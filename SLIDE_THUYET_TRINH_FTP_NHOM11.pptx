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utech_logo.jpeg"/>
          <p:cNvPicPr>
            <a:picLocks noChangeAspect="1"/>
          </p:cNvPicPr>
          <p:nvPr/>
        </p:nvPicPr>
        <p:blipFill>
          <a:blip r:embed="rId2"/>
          <a:stretch>
            <a:fillRect/>
          </a:stretch>
        </p:blipFill>
        <p:spPr>
          <a:xfrm>
            <a:off x="731520" y="548640"/>
            <a:ext cx="3019374" cy="822960"/>
          </a:xfrm>
          <a:prstGeom prst="rect">
            <a:avLst/>
          </a:prstGeom>
        </p:spPr>
      </p:pic>
      <p:sp>
        <p:nvSpPr>
          <p:cNvPr id="4" name="TextBox 3"/>
          <p:cNvSpPr txBox="1"/>
          <p:nvPr/>
        </p:nvSpPr>
        <p:spPr>
          <a:xfrm>
            <a:off x="4114800" y="548640"/>
            <a:ext cx="7315200" cy="822960"/>
          </a:xfrm>
          <a:prstGeom prst="rect">
            <a:avLst/>
          </a:prstGeom>
          <a:noFill/>
        </p:spPr>
        <p:txBody>
          <a:bodyPr wrap="none">
            <a:spAutoFit/>
          </a:bodyPr>
          <a:lstStyle/>
          <a:p>
            <a:pPr algn="r">
              <a:defRPr sz="1300" b="1">
                <a:solidFill>
                  <a:srgbClr val="FFFFFF"/>
                </a:solidFill>
                <a:latin typeface="Arial"/>
              </a:defRPr>
            </a:pPr>
            <a:r>
              <a:t>TRƯỜNG ĐẠI HỌC CÔNG NGHỆ TP. HCM (HUTECH)</a:t>
            </a:r>
            <a:br/>
            <a:r>
              <a:t>KHOA CÔNG NGHỆ THÔNG TIN</a:t>
            </a:r>
          </a:p>
        </p:txBody>
      </p:sp>
      <p:sp>
        <p:nvSpPr>
          <p:cNvPr id="5" name="TextBox 4"/>
          <p:cNvSpPr txBox="1"/>
          <p:nvPr/>
        </p:nvSpPr>
        <p:spPr>
          <a:xfrm>
            <a:off x="731520" y="1828800"/>
            <a:ext cx="10698480" cy="2011680"/>
          </a:xfrm>
          <a:prstGeom prst="rect">
            <a:avLst/>
          </a:prstGeom>
          <a:noFill/>
        </p:spPr>
        <p:txBody>
          <a:bodyPr wrap="none">
            <a:spAutoFit/>
          </a:bodyPr>
          <a:lstStyle/>
          <a:p>
            <a:pPr>
              <a:defRPr sz="1400" b="1">
                <a:solidFill>
                  <a:srgbClr val="FFC000"/>
                </a:solidFill>
                <a:latin typeface="Arial"/>
              </a:defRPr>
            </a:pPr>
            <a:r>
              <a:t>BÁO CÁO ĐỒ ÁN HỌC PHẦN: LẬP TRÌNH MẠNG MÁY TÍNH</a:t>
            </a:r>
          </a:p>
          <a:p>
            <a:pPr>
              <a:defRPr sz="3000" b="1">
                <a:solidFill>
                  <a:srgbClr val="FFFFFF"/>
                </a:solidFill>
                <a:latin typeface="Arial"/>
              </a:defRPr>
            </a:pPr>
            <a:r>
              <a:t>HỆ THỐNG FTP SERVER/CLIENT CƠ BẢN</a:t>
            </a:r>
            <a:br/>
            <a:r>
              <a:t>VỚI HAI KÊNH (ĐIỀU KHIỂN VÀ DỮ LIỆU)</a:t>
            </a:r>
          </a:p>
        </p:txBody>
      </p:sp>
      <p:sp>
        <p:nvSpPr>
          <p:cNvPr id="6" name="Rounded Rectangle 5"/>
          <p:cNvSpPr/>
          <p:nvPr/>
        </p:nvSpPr>
        <p:spPr>
          <a:xfrm>
            <a:off x="731520" y="4114800"/>
            <a:ext cx="10698480" cy="2103120"/>
          </a:xfrm>
          <a:prstGeom prst="roundRect">
            <a:avLst/>
          </a:prstGeom>
          <a:solidFill>
            <a:srgbClr val="0F2D73"/>
          </a:solid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206240"/>
            <a:ext cx="10149840" cy="1920240"/>
          </a:xfrm>
          <a:prstGeom prst="rect">
            <a:avLst/>
          </a:prstGeom>
          <a:noFill/>
        </p:spPr>
        <p:txBody>
          <a:bodyPr wrap="none">
            <a:spAutoFit/>
          </a:bodyPr>
          <a:lstStyle/>
          <a:p>
            <a:pPr>
              <a:defRPr sz="1400" b="1">
                <a:solidFill>
                  <a:srgbClr val="FFC000"/>
                </a:solidFill>
              </a:defRPr>
            </a:pPr>
            <a:r>
              <a:t>Giảng viên hướng dẫn:  ThS. Nguyễn Lê Văn</a:t>
            </a:r>
          </a:p>
          <a:p>
            <a:pPr>
              <a:defRPr sz="1200">
                <a:solidFill>
                  <a:srgbClr val="FFFFFF"/>
                </a:solidFill>
              </a:defRPr>
            </a:pPr>
            <a:r>
              <a:t>Lớp:  23DTHB4    |    Nhóm thực hiện:  Nhóm 11    |    Thời gian:  Tháng 10/2026</a:t>
            </a:r>
          </a:p>
          <a:p>
            <a:pPr>
              <a:defRPr sz="1300" b="1">
                <a:solidFill>
                  <a:srgbClr val="FFFFFF"/>
                </a:solidFill>
              </a:defRPr>
            </a:pPr>
            <a:r>
              <a:t>Thành viên:  1. Trần Nhật Tiến (2380602243 - NT)   •   2. Phan Thanh Trọng (2380602351)   •   3. Nguyễn Anh Vũ (2380602582)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BỐI CẢNH &amp; TÍNH CẤP THIẾT CỦA ĐỀ TÀI</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400" b="1">
                <a:solidFill>
                  <a:srgbClr val="DC2626"/>
                </a:solidFill>
              </a:defRPr>
            </a:pPr>
            <a:r>
              <a:t>THÁCH THỨC TRUYỀN TỆP TRUYỀN THỐNG</a:t>
            </a:r>
          </a:p>
          <a:p>
            <a:pPr>
              <a:defRPr sz="1250">
                <a:solidFill>
                  <a:srgbClr val="1E293B"/>
                </a:solidFill>
              </a:defRPr>
            </a:pPr>
            <a:r>
              <a:t>• Nhu cầu chia sẻ dữ liệu: Sinh viên và người dùng trong mạng LAN cần trao đổi tệp tin dung lượng lớn liên tục.</a:t>
            </a:r>
          </a:p>
          <a:p>
            <a:pPr>
              <a:defRPr sz="1250">
                <a:solidFill>
                  <a:srgbClr val="1E293B"/>
                </a:solidFill>
              </a:defRPr>
            </a:pPr>
            <a:r>
              <a:t>• Xung đột một kênh: Nếu gộp chung lệnh văn bản và stream nhị phân trên 1 socket, việc truyền tệp lớn sẽ làm nghẽn toàn bộ lệnh điều khiển.</a:t>
            </a:r>
          </a:p>
          <a:p>
            <a:pPr>
              <a:defRPr sz="1250">
                <a:solidFill>
                  <a:srgbClr val="1E293B"/>
                </a:solidFill>
              </a:defRPr>
            </a:pPr>
            <a:r>
              <a:t>• Rào cản Tường lửa (Firewall) &amp; NAT: Các cơ chế truyền chủ động (Active Mode) thường bị router/firewall chặn đứng do không cho kết nối từ ngoài vào.</a:t>
            </a:r>
          </a:p>
          <a:p>
            <a:pPr>
              <a:defRPr sz="1250">
                <a:solidFill>
                  <a:srgbClr val="1E293B"/>
                </a:solidFill>
              </a:defRPr>
            </a:pPr>
            <a:r>
              <a:t>• Nguy cơ bảo mật: Kẻ tấn công lợi dụng đường dẫn tương đối (Path Traversal ../) để đọc lén tệp hệ điều hành.</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400" b="1">
                <a:solidFill>
                  <a:srgbClr val="16A34A"/>
                </a:solidFill>
              </a:defRPr>
            </a:pPr>
            <a:r>
              <a:t>GIẢI PHÁP ĐỀ TÀI: FTP HAI KÊNH CHUẨN</a:t>
            </a:r>
          </a:p>
          <a:p>
            <a:pPr>
              <a:defRPr sz="1250">
                <a:solidFill>
                  <a:srgbClr val="1E293B"/>
                </a:solidFill>
              </a:defRPr>
            </a:pPr>
            <a:r>
              <a:t>✔ Kiến trúc Hai kênh tách biệt (RFC 959): Kênh điều khiển (Port 2121) duy trì liên tục, Kênh dữ liệu mở động độc lập khi cần.</a:t>
            </a:r>
          </a:p>
          <a:p>
            <a:pPr>
              <a:defRPr sz="1250">
                <a:solidFill>
                  <a:srgbClr val="1E293B"/>
                </a:solidFill>
              </a:defRPr>
            </a:pPr>
            <a:r>
              <a:t>✔ Cơ chế Passive Mode (PASV): Server cấp phát cổng động, Client chủ động tạo kết nối ra ngoài (Outbound) -&gt; Vượt qua Firewall/NAT 100%.</a:t>
            </a:r>
          </a:p>
          <a:p>
            <a:pPr>
              <a:defRPr sz="1250">
                <a:solidFill>
                  <a:srgbClr val="1E293B"/>
                </a:solidFill>
              </a:defRPr>
            </a:pPr>
            <a:r>
              <a:t>✔ Đa luồng (Multi-threading): Server phục vụ đồng thời nhiều Client bằng ExecutorService mà không bị nghẽn.</a:t>
            </a:r>
          </a:p>
          <a:p>
            <a:pPr>
              <a:defRPr sz="1250">
                <a:solidFill>
                  <a:srgbClr val="1E293B"/>
                </a:solidFill>
              </a:defRPr>
            </a:pPr>
            <a:r>
              <a:t>✔ Bảo vệ Sandbox Root: Cô lập toàn bộ thao tác trong thư mục gốc, triệt tiêu nguy cơ rò rỉ dữ liệu.</a:t>
            </a:r>
          </a:p>
          <a:p>
            <a:pPr>
              <a:defRPr sz="1250">
                <a:solidFill>
                  <a:srgbClr val="1E293B"/>
                </a:solidFill>
              </a:defRPr>
            </a:pPr>
            <a:r>
              <a:t>✔ Giao diện Swing trực quan: Tích hợp JTable duyệt file, JProgressBar % thời gian thực và Console Log chuyên nghiệp.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THÀNH VIÊN NHÓM &amp; PHÂN CÔNG TRÁCH NHIỆM</a:t>
            </a:r>
          </a:p>
        </p:txBody>
      </p:sp>
      <p:sp>
        <p:nvSpPr>
          <p:cNvPr id="4" name="Rounded Rectangle 3"/>
          <p:cNvSpPr/>
          <p:nvPr/>
        </p:nvSpPr>
        <p:spPr>
          <a:xfrm>
            <a:off x="731520" y="137160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3383280" cy="109728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1005840"/>
          </a:xfrm>
          <a:prstGeom prst="rect">
            <a:avLst/>
          </a:prstGeom>
          <a:noFill/>
        </p:spPr>
        <p:txBody>
          <a:bodyPr wrap="none">
            <a:spAutoFit/>
          </a:bodyPr>
          <a:lstStyle/>
          <a:p>
            <a:pPr>
              <a:defRPr sz="1400" b="1">
                <a:solidFill>
                  <a:srgbClr val="FFFFFF"/>
                </a:solidFill>
              </a:defRPr>
            </a:pPr>
            <a:r>
              <a:t>TRẦN NHẬT TIẾN</a:t>
            </a:r>
          </a:p>
          <a:p>
            <a:pPr>
              <a:defRPr sz="1100">
                <a:solidFill>
                  <a:srgbClr val="FFC000"/>
                </a:solidFill>
              </a:defRPr>
            </a:pPr>
            <a:r>
              <a:t>MSSV: 2380602243  •  Đóng góp: 10/10</a:t>
            </a:r>
          </a:p>
          <a:p>
            <a:pPr>
              <a:defRPr sz="950" b="1">
                <a:solidFill>
                  <a:srgbClr val="FFFFFF"/>
                </a:solidFill>
              </a:defRPr>
            </a:pPr>
            <a:r>
              <a:t>NHÓM TRƯỞNG — PHỤ TRÁCH SERVER</a:t>
            </a:r>
          </a:p>
        </p:txBody>
      </p:sp>
      <p:sp>
        <p:nvSpPr>
          <p:cNvPr id="7" name="TextBox 6"/>
          <p:cNvSpPr txBox="1"/>
          <p:nvPr/>
        </p:nvSpPr>
        <p:spPr>
          <a:xfrm>
            <a:off x="868680" y="2560320"/>
            <a:ext cx="3108960" cy="3566160"/>
          </a:xfrm>
          <a:prstGeom prst="rect">
            <a:avLst/>
          </a:prstGeom>
          <a:noFill/>
        </p:spPr>
        <p:txBody>
          <a:bodyPr wrap="none">
            <a:spAutoFit/>
          </a:bodyPr>
          <a:lstStyle/>
          <a:p/>
          <a:p>
            <a:pPr>
              <a:defRPr sz="1100">
                <a:solidFill>
                  <a:srgbClr val="1E293B"/>
                </a:solidFill>
              </a:defRPr>
            </a:pPr>
            <a:r>
              <a:t>• Thiết kế kiến trúc hệ thống và giao thức PROTOCOL.md</a:t>
            </a:r>
          </a:p>
          <a:p>
            <a:pPr>
              <a:defRPr sz="1100">
                <a:solidFill>
                  <a:srgbClr val="1E293B"/>
                </a:solidFill>
              </a:defRPr>
            </a:pPr>
            <a:r>
              <a:t>• Xây dựng FTP Server đa luồng (ExecutorService)</a:t>
            </a:r>
          </a:p>
          <a:p>
            <a:pPr>
              <a:defRPr sz="1100">
                <a:solidFill>
                  <a:srgbClr val="1E293B"/>
                </a:solidFill>
              </a:defRPr>
            </a:pPr>
            <a:r>
              <a:t>• Xử lý máy trạng thái Control Channel (USER, PASS, CWD...)</a:t>
            </a:r>
          </a:p>
          <a:p>
            <a:pPr>
              <a:defRPr sz="1100">
                <a:solidFill>
                  <a:srgbClr val="1E293B"/>
                </a:solidFill>
              </a:defRPr>
            </a:pPr>
            <a:r>
              <a:t>• Cài đặt bảo mật Sandbox Root chống Path Traversal</a:t>
            </a:r>
          </a:p>
          <a:p>
            <a:pPr>
              <a:defRPr sz="1100">
                <a:solidFill>
                  <a:srgbClr val="1E293B"/>
                </a:solidFill>
              </a:defRPr>
            </a:pPr>
            <a:r>
              <a:t>• Quản trị kho mã nguồn Git &amp; GitHub</a:t>
            </a:r>
          </a:p>
        </p:txBody>
      </p:sp>
      <p:sp>
        <p:nvSpPr>
          <p:cNvPr id="8" name="Rounded Rectangle 7"/>
          <p:cNvSpPr/>
          <p:nvPr/>
        </p:nvSpPr>
        <p:spPr>
          <a:xfrm>
            <a:off x="4389120" y="137160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371600"/>
            <a:ext cx="3383280" cy="10972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417320"/>
            <a:ext cx="3108960" cy="1005840"/>
          </a:xfrm>
          <a:prstGeom prst="rect">
            <a:avLst/>
          </a:prstGeom>
          <a:noFill/>
        </p:spPr>
        <p:txBody>
          <a:bodyPr wrap="none">
            <a:spAutoFit/>
          </a:bodyPr>
          <a:lstStyle/>
          <a:p>
            <a:pPr>
              <a:defRPr sz="1400" b="1">
                <a:solidFill>
                  <a:srgbClr val="FFFFFF"/>
                </a:solidFill>
              </a:defRPr>
            </a:pPr>
            <a:r>
              <a:t>PHAN THANH TRỌNG</a:t>
            </a:r>
          </a:p>
          <a:p>
            <a:pPr>
              <a:defRPr sz="1100">
                <a:solidFill>
                  <a:srgbClr val="FFC000"/>
                </a:solidFill>
              </a:defRPr>
            </a:pPr>
            <a:r>
              <a:t>MSSV: 2380602351  •  Đóng góp: 10/10</a:t>
            </a:r>
          </a:p>
          <a:p>
            <a:pPr>
              <a:defRPr sz="950" b="1">
                <a:solidFill>
                  <a:srgbClr val="FFFFFF"/>
                </a:solidFill>
              </a:defRPr>
            </a:pPr>
            <a:r>
              <a:t>THÀNH VIÊN — DATA CHANNEL</a:t>
            </a:r>
          </a:p>
        </p:txBody>
      </p:sp>
      <p:sp>
        <p:nvSpPr>
          <p:cNvPr id="11" name="TextBox 10"/>
          <p:cNvSpPr txBox="1"/>
          <p:nvPr/>
        </p:nvSpPr>
        <p:spPr>
          <a:xfrm>
            <a:off x="4526280" y="2560320"/>
            <a:ext cx="3108960" cy="3566160"/>
          </a:xfrm>
          <a:prstGeom prst="rect">
            <a:avLst/>
          </a:prstGeom>
          <a:noFill/>
        </p:spPr>
        <p:txBody>
          <a:bodyPr wrap="none">
            <a:spAutoFit/>
          </a:bodyPr>
          <a:lstStyle/>
          <a:p/>
          <a:p>
            <a:pPr>
              <a:defRPr sz="1100">
                <a:solidFill>
                  <a:srgbClr val="1E293B"/>
                </a:solidFill>
              </a:defRPr>
            </a:pPr>
            <a:r>
              <a:t>• Xây dựng Module Data Channel dùng chung (Helper)</a:t>
            </a:r>
          </a:p>
          <a:p>
            <a:pPr>
              <a:defRPr sz="1100">
                <a:solidFill>
                  <a:srgbClr val="1E293B"/>
                </a:solidFill>
              </a:defRPr>
            </a:pPr>
            <a:r>
              <a:t>• Tối ưu khối đệm I/O 8 KB (Binary Stream)</a:t>
            </a:r>
          </a:p>
          <a:p>
            <a:pPr>
              <a:defRPr sz="1100">
                <a:solidFill>
                  <a:srgbClr val="1E293B"/>
                </a:solidFill>
              </a:defRPr>
            </a:pPr>
            <a:r>
              <a:t>• Cài đặt Interface DataTransferListener báo tiến độ</a:t>
            </a:r>
          </a:p>
          <a:p>
            <a:pPr>
              <a:defRPr sz="1100">
                <a:solidFill>
                  <a:srgbClr val="1E293B"/>
                </a:solidFill>
              </a:defRPr>
            </a:pPr>
            <a:r>
              <a:t>• Xây dựng bộ test benchmark hiệu năng tự động</a:t>
            </a:r>
          </a:p>
          <a:p>
            <a:pPr>
              <a:defRPr sz="1100">
                <a:solidFill>
                  <a:srgbClr val="1E293B"/>
                </a:solidFill>
              </a:defRPr>
            </a:pPr>
            <a:r>
              <a:t>• Kiểm tra toàn vẹn dữ liệu bằng mã băm SHA-256</a:t>
            </a:r>
          </a:p>
        </p:txBody>
      </p:sp>
      <p:sp>
        <p:nvSpPr>
          <p:cNvPr id="12" name="Rounded Rectangle 11"/>
          <p:cNvSpPr/>
          <p:nvPr/>
        </p:nvSpPr>
        <p:spPr>
          <a:xfrm>
            <a:off x="8046720" y="137160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371600"/>
            <a:ext cx="3383280" cy="1097280"/>
          </a:xfrm>
          <a:prstGeom prst="rect">
            <a:avLst/>
          </a:prstGeom>
          <a:solidFill>
            <a:srgbClr val="783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417320"/>
            <a:ext cx="3108960" cy="1005840"/>
          </a:xfrm>
          <a:prstGeom prst="rect">
            <a:avLst/>
          </a:prstGeom>
          <a:noFill/>
        </p:spPr>
        <p:txBody>
          <a:bodyPr wrap="none">
            <a:spAutoFit/>
          </a:bodyPr>
          <a:lstStyle/>
          <a:p>
            <a:pPr>
              <a:defRPr sz="1400" b="1">
                <a:solidFill>
                  <a:srgbClr val="FFFFFF"/>
                </a:solidFill>
              </a:defRPr>
            </a:pPr>
            <a:r>
              <a:t>NGUYỄN ANH VŨ</a:t>
            </a:r>
          </a:p>
          <a:p>
            <a:pPr>
              <a:defRPr sz="1100">
                <a:solidFill>
                  <a:srgbClr val="FFC000"/>
                </a:solidFill>
              </a:defRPr>
            </a:pPr>
            <a:r>
              <a:t>MSSV: 2380602582  •  Đóng góp: 10/10</a:t>
            </a:r>
          </a:p>
          <a:p>
            <a:pPr>
              <a:defRPr sz="950" b="1">
                <a:solidFill>
                  <a:srgbClr val="FFFFFF"/>
                </a:solidFill>
              </a:defRPr>
            </a:pPr>
            <a:r>
              <a:t>THÀNH VIÊN — PHỤ TRÁCH CLIENT</a:t>
            </a:r>
          </a:p>
        </p:txBody>
      </p:sp>
      <p:sp>
        <p:nvSpPr>
          <p:cNvPr id="15" name="TextBox 14"/>
          <p:cNvSpPr txBox="1"/>
          <p:nvPr/>
        </p:nvSpPr>
        <p:spPr>
          <a:xfrm>
            <a:off x="8183880" y="2560320"/>
            <a:ext cx="3108960" cy="3566160"/>
          </a:xfrm>
          <a:prstGeom prst="rect">
            <a:avLst/>
          </a:prstGeom>
          <a:noFill/>
        </p:spPr>
        <p:txBody>
          <a:bodyPr wrap="none">
            <a:spAutoFit/>
          </a:bodyPr>
          <a:lstStyle/>
          <a:p/>
          <a:p>
            <a:pPr>
              <a:defRPr sz="1100">
                <a:solidFill>
                  <a:srgbClr val="1E293B"/>
                </a:solidFill>
              </a:defRPr>
            </a:pPr>
            <a:r>
              <a:t>• Xây dựng giao diện đồ họa người dùng Java Swing</a:t>
            </a:r>
          </a:p>
          <a:p>
            <a:pPr>
              <a:defRPr sz="1100">
                <a:solidFill>
                  <a:srgbClr val="1E293B"/>
                </a:solidFill>
              </a:defRPr>
            </a:pPr>
            <a:r>
              <a:t>• Xử lý tác vụ truyền tệp ngầm với SwingWorker</a:t>
            </a:r>
          </a:p>
          <a:p>
            <a:pPr>
              <a:defRPr sz="1100">
                <a:solidFill>
                  <a:srgbClr val="1E293B"/>
                </a:solidFill>
              </a:defRPr>
            </a:pPr>
            <a:r>
              <a:t>• Cài đặt bộ điều khiển mạng FtpClientController</a:t>
            </a:r>
          </a:p>
          <a:p>
            <a:pPr>
              <a:defRPr sz="1100">
                <a:solidFill>
                  <a:srgbClr val="1E293B"/>
                </a:solidFill>
              </a:defRPr>
            </a:pPr>
            <a:r>
              <a:t>• Tích hợp thanh tiến trình JProgressBar thời gian thực</a:t>
            </a:r>
          </a:p>
          <a:p>
            <a:pPr>
              <a:defRPr sz="1100">
                <a:solidFill>
                  <a:srgbClr val="1E293B"/>
                </a:solidFill>
              </a:defRPr>
            </a:pPr>
            <a:r>
              <a:t>• Xây dựng ứng dụng dòng lệnh FtpConsoleClient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NỘI DUNG TRÌNH BÀY (AGENDA)</a:t>
            </a:r>
          </a:p>
        </p:txBody>
      </p:sp>
      <p:sp>
        <p:nvSpPr>
          <p:cNvPr id="4" name="Rounded Rectangle 3"/>
          <p:cNvSpPr/>
          <p:nvPr/>
        </p:nvSpPr>
        <p:spPr>
          <a:xfrm>
            <a:off x="731520" y="146304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9164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01</a:t>
            </a:r>
          </a:p>
        </p:txBody>
      </p:sp>
      <p:sp>
        <p:nvSpPr>
          <p:cNvPr id="6" name="TextBox 5"/>
          <p:cNvSpPr txBox="1"/>
          <p:nvPr/>
        </p:nvSpPr>
        <p:spPr>
          <a:xfrm>
            <a:off x="1965960" y="1645920"/>
            <a:ext cx="3840480" cy="1005840"/>
          </a:xfrm>
          <a:prstGeom prst="rect">
            <a:avLst/>
          </a:prstGeom>
          <a:noFill/>
        </p:spPr>
        <p:txBody>
          <a:bodyPr wrap="none">
            <a:spAutoFit/>
          </a:bodyPr>
          <a:lstStyle/>
          <a:p>
            <a:pPr>
              <a:defRPr sz="1300" b="1">
                <a:solidFill>
                  <a:srgbClr val="002060"/>
                </a:solidFill>
              </a:defRPr>
            </a:pPr>
            <a:r>
              <a:t>TỔNG QUAN &amp; MỤC TIÊU ĐỀ TÀI</a:t>
            </a:r>
          </a:p>
          <a:p>
            <a:pPr>
              <a:defRPr sz="1100">
                <a:solidFill>
                  <a:srgbClr val="64748B"/>
                </a:solidFill>
              </a:defRPr>
            </a:pPr>
            <a:r>
              <a:t>Bối cảnh nghiên cứu, tính cấp thiết và các yêu cầu kỹ thuật.</a:t>
            </a:r>
          </a:p>
        </p:txBody>
      </p:sp>
      <p:sp>
        <p:nvSpPr>
          <p:cNvPr id="7" name="Rounded Rectangle 6"/>
          <p:cNvSpPr/>
          <p:nvPr/>
        </p:nvSpPr>
        <p:spPr>
          <a:xfrm>
            <a:off x="6217920" y="146304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69164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02</a:t>
            </a:r>
          </a:p>
        </p:txBody>
      </p:sp>
      <p:sp>
        <p:nvSpPr>
          <p:cNvPr id="9" name="TextBox 8"/>
          <p:cNvSpPr txBox="1"/>
          <p:nvPr/>
        </p:nvSpPr>
        <p:spPr>
          <a:xfrm>
            <a:off x="7452360" y="1645920"/>
            <a:ext cx="3840480" cy="1005840"/>
          </a:xfrm>
          <a:prstGeom prst="rect">
            <a:avLst/>
          </a:prstGeom>
          <a:noFill/>
        </p:spPr>
        <p:txBody>
          <a:bodyPr wrap="none">
            <a:spAutoFit/>
          </a:bodyPr>
          <a:lstStyle/>
          <a:p>
            <a:pPr>
              <a:defRPr sz="1300" b="1">
                <a:solidFill>
                  <a:srgbClr val="002060"/>
                </a:solidFill>
              </a:defRPr>
            </a:pPr>
            <a:r>
              <a:t>CƠ SỞ LÝ THUYẾT &amp; KIẾN TRÚC HAI KÊNH</a:t>
            </a:r>
          </a:p>
          <a:p>
            <a:pPr>
              <a:defRPr sz="1100">
                <a:solidFill>
                  <a:srgbClr val="64748B"/>
                </a:solidFill>
              </a:defRPr>
            </a:pPr>
            <a:r>
              <a:t>Mô hình Client-Server, chuẩn RFC 959, Active vs Passive Mode.</a:t>
            </a:r>
          </a:p>
        </p:txBody>
      </p:sp>
      <p:sp>
        <p:nvSpPr>
          <p:cNvPr id="10" name="Rounded Rectangle 9"/>
          <p:cNvSpPr/>
          <p:nvPr/>
        </p:nvSpPr>
        <p:spPr>
          <a:xfrm>
            <a:off x="731520" y="301752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324612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03</a:t>
            </a:r>
          </a:p>
        </p:txBody>
      </p:sp>
      <p:sp>
        <p:nvSpPr>
          <p:cNvPr id="12" name="TextBox 11"/>
          <p:cNvSpPr txBox="1"/>
          <p:nvPr/>
        </p:nvSpPr>
        <p:spPr>
          <a:xfrm>
            <a:off x="1965960" y="3200400"/>
            <a:ext cx="3840480" cy="1005840"/>
          </a:xfrm>
          <a:prstGeom prst="rect">
            <a:avLst/>
          </a:prstGeom>
          <a:noFill/>
        </p:spPr>
        <p:txBody>
          <a:bodyPr wrap="none">
            <a:spAutoFit/>
          </a:bodyPr>
          <a:lstStyle/>
          <a:p>
            <a:pPr>
              <a:defRPr sz="1300" b="1">
                <a:solidFill>
                  <a:srgbClr val="002060"/>
                </a:solidFill>
              </a:defRPr>
            </a:pPr>
            <a:r>
              <a:t>THIẾT KẾ &amp; HIỆN THỰC HÓA SERVER (TIẾN)</a:t>
            </a:r>
          </a:p>
          <a:p>
            <a:pPr>
              <a:defRPr sz="1100">
                <a:solidFill>
                  <a:srgbClr val="64748B"/>
                </a:solidFill>
              </a:defRPr>
            </a:pPr>
            <a:r>
              <a:t>Đa luồng ExecutorService, máy trạng thái và Sandbox Root.</a:t>
            </a:r>
          </a:p>
        </p:txBody>
      </p:sp>
      <p:sp>
        <p:nvSpPr>
          <p:cNvPr id="13" name="Rounded Rectangle 12"/>
          <p:cNvSpPr/>
          <p:nvPr/>
        </p:nvSpPr>
        <p:spPr>
          <a:xfrm>
            <a:off x="6217920" y="301752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324612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04</a:t>
            </a:r>
          </a:p>
        </p:txBody>
      </p:sp>
      <p:sp>
        <p:nvSpPr>
          <p:cNvPr id="15" name="TextBox 14"/>
          <p:cNvSpPr txBox="1"/>
          <p:nvPr/>
        </p:nvSpPr>
        <p:spPr>
          <a:xfrm>
            <a:off x="7452360" y="3200400"/>
            <a:ext cx="3840480" cy="1005840"/>
          </a:xfrm>
          <a:prstGeom prst="rect">
            <a:avLst/>
          </a:prstGeom>
          <a:noFill/>
        </p:spPr>
        <p:txBody>
          <a:bodyPr wrap="none">
            <a:spAutoFit/>
          </a:bodyPr>
          <a:lstStyle/>
          <a:p>
            <a:pPr>
              <a:defRPr sz="1300" b="1">
                <a:solidFill>
                  <a:srgbClr val="002060"/>
                </a:solidFill>
              </a:defRPr>
            </a:pPr>
            <a:r>
              <a:t>THIẾT KẾ MODULE DATA CHANNEL (TRỌNG)</a:t>
            </a:r>
          </a:p>
          <a:p>
            <a:pPr>
              <a:defRPr sz="1100">
                <a:solidFill>
                  <a:srgbClr val="64748B"/>
                </a:solidFill>
              </a:defRPr>
            </a:pPr>
            <a:r>
              <a:t>Cơ chế Binary Stream 8KB, Listener callback và kiểm thử.</a:t>
            </a:r>
          </a:p>
        </p:txBody>
      </p:sp>
      <p:sp>
        <p:nvSpPr>
          <p:cNvPr id="16" name="Rounded Rectangle 15"/>
          <p:cNvSpPr/>
          <p:nvPr/>
        </p:nvSpPr>
        <p:spPr>
          <a:xfrm>
            <a:off x="731520" y="457200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480060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05</a:t>
            </a:r>
          </a:p>
        </p:txBody>
      </p:sp>
      <p:sp>
        <p:nvSpPr>
          <p:cNvPr id="18" name="TextBox 17"/>
          <p:cNvSpPr txBox="1"/>
          <p:nvPr/>
        </p:nvSpPr>
        <p:spPr>
          <a:xfrm>
            <a:off x="1965960" y="4754880"/>
            <a:ext cx="3840480" cy="1005840"/>
          </a:xfrm>
          <a:prstGeom prst="rect">
            <a:avLst/>
          </a:prstGeom>
          <a:noFill/>
        </p:spPr>
        <p:txBody>
          <a:bodyPr wrap="none">
            <a:spAutoFit/>
          </a:bodyPr>
          <a:lstStyle/>
          <a:p>
            <a:pPr>
              <a:defRPr sz="1300" b="1">
                <a:solidFill>
                  <a:srgbClr val="002060"/>
                </a:solidFill>
              </a:defRPr>
            </a:pPr>
            <a:r>
              <a:t>THIẾT KẾ &amp; CÀI ĐẶT CLIENT (VŨ)</a:t>
            </a:r>
          </a:p>
          <a:p>
            <a:pPr>
              <a:defRPr sz="1100">
                <a:solidFill>
                  <a:srgbClr val="64748B"/>
                </a:solidFill>
              </a:defRPr>
            </a:pPr>
            <a:r>
              <a:t>Giao diện Java Swing, SwingWorker và bộ điều khiển mạng.</a:t>
            </a:r>
          </a:p>
        </p:txBody>
      </p:sp>
      <p:sp>
        <p:nvSpPr>
          <p:cNvPr id="19" name="Rounded Rectangle 18"/>
          <p:cNvSpPr/>
          <p:nvPr/>
        </p:nvSpPr>
        <p:spPr>
          <a:xfrm>
            <a:off x="6217920" y="4572000"/>
            <a:ext cx="52120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4800600"/>
            <a:ext cx="914400" cy="91440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C000"/>
                </a:solidFill>
              </a:defRPr>
            </a:pPr>
            <a:r>
              <a:t>06</a:t>
            </a:r>
          </a:p>
        </p:txBody>
      </p:sp>
      <p:sp>
        <p:nvSpPr>
          <p:cNvPr id="21" name="TextBox 20"/>
          <p:cNvSpPr txBox="1"/>
          <p:nvPr/>
        </p:nvSpPr>
        <p:spPr>
          <a:xfrm>
            <a:off x="7452360" y="4754880"/>
            <a:ext cx="3840480" cy="1005840"/>
          </a:xfrm>
          <a:prstGeom prst="rect">
            <a:avLst/>
          </a:prstGeom>
          <a:noFill/>
        </p:spPr>
        <p:txBody>
          <a:bodyPr wrap="none">
            <a:spAutoFit/>
          </a:bodyPr>
          <a:lstStyle/>
          <a:p>
            <a:pPr>
              <a:defRPr sz="1300" b="1">
                <a:solidFill>
                  <a:srgbClr val="002060"/>
                </a:solidFill>
              </a:defRPr>
            </a:pPr>
            <a:r>
              <a:t>KẾT QUẢ THỰC NGHIỆM &amp; KẾT LUẬN</a:t>
            </a:r>
          </a:p>
          <a:p>
            <a:pPr>
              <a:defRPr sz="1100">
                <a:solidFill>
                  <a:srgbClr val="64748B"/>
                </a:solidFill>
              </a:defRPr>
            </a:pPr>
            <a:r>
              <a:t>Benchmark hiệu năng, SHA-256 khớp 100%, chạy 2 máy 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1800" b="1">
                <a:solidFill>
                  <a:srgbClr val="FFC000"/>
                </a:solidFill>
              </a:defRPr>
            </a:pPr>
            <a:r>
              <a:t>PHẦN 01</a:t>
            </a:r>
          </a:p>
          <a:p>
            <a:pPr>
              <a:defRPr sz="3400" b="1">
                <a:solidFill>
                  <a:srgbClr val="FFFFFF"/>
                </a:solidFill>
              </a:defRPr>
            </a:pPr>
            <a:r>
              <a:t>KIẾN TRÚC GIAO THỨC &amp; CƠ SỞ LÝ THUYẾT</a:t>
            </a:r>
          </a:p>
          <a:p>
            <a:pPr>
              <a:defRPr sz="1500">
                <a:solidFill>
                  <a:srgbClr val="C8DCFF"/>
                </a:solidFill>
              </a:defRPr>
            </a:pPr>
            <a:r>
              <a:t>Mô hình Client-Server, chuẩn FTP RFC 959 và cơ chế Passive Mode (PASV)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KIẾN TRÚC HAI KÊNH ĐỘC LẬP (TWO-CHANNEL ARCHITECTURE)</a:t>
            </a:r>
          </a:p>
        </p:txBody>
      </p:sp>
      <p:pic>
        <p:nvPicPr>
          <p:cNvPr id="4" name="Picture 3" descr="hinh_kien_truc.png"/>
          <p:cNvPicPr>
            <a:picLocks noChangeAspect="1"/>
          </p:cNvPicPr>
          <p:nvPr/>
        </p:nvPicPr>
        <p:blipFill>
          <a:blip r:embed="rId2"/>
          <a:stretch>
            <a:fillRect/>
          </a:stretch>
        </p:blipFill>
        <p:spPr>
          <a:xfrm>
            <a:off x="731520" y="1371600"/>
            <a:ext cx="6583680" cy="3703320"/>
          </a:xfrm>
          <a:prstGeom prst="rect">
            <a:avLst/>
          </a:prstGeom>
        </p:spPr>
      </p:pic>
      <p:sp>
        <p:nvSpPr>
          <p:cNvPr id="5" name="Rounded Rectangle 4"/>
          <p:cNvSpPr/>
          <p:nvPr/>
        </p:nvSpPr>
        <p:spPr>
          <a:xfrm>
            <a:off x="7589520" y="1371600"/>
            <a:ext cx="38404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554480"/>
            <a:ext cx="3474720" cy="4480560"/>
          </a:xfrm>
          <a:prstGeom prst="rect">
            <a:avLst/>
          </a:prstGeom>
          <a:noFill/>
        </p:spPr>
        <p:txBody>
          <a:bodyPr wrap="none">
            <a:spAutoFit/>
          </a:bodyPr>
          <a:lstStyle/>
          <a:p>
            <a:pPr>
              <a:defRPr sz="1400" b="1">
                <a:solidFill>
                  <a:srgbClr val="002060"/>
                </a:solidFill>
              </a:defRPr>
            </a:pPr>
            <a:r>
              <a:t>NGUYÊN LÝ HOẠT ĐỘNG</a:t>
            </a:r>
          </a:p>
          <a:p>
            <a:pPr>
              <a:defRPr sz="1150">
                <a:solidFill>
                  <a:srgbClr val="1E293B"/>
                </a:solidFill>
              </a:defRPr>
            </a:pPr>
            <a:r>
              <a:t>• Kênh điều khiển (Control Channel): Cổng TCP 2121. Duy trì liên tục từ lúc đăng nhập đến ngắt kết nối. Dùng dòng lệnh văn bản ASCII/UTF-8 kết thúc bằng CRLF (\r\n).</a:t>
            </a:r>
          </a:p>
          <a:p>
            <a:pPr>
              <a:defRPr sz="1150">
                <a:solidFill>
                  <a:srgbClr val="1E293B"/>
                </a:solidFill>
              </a:defRPr>
            </a:pPr>
            <a:r>
              <a:t>• Kênh dữ liệu (Data Channel): Mở động theo cơ chế Passive Mode (50000 - 50100). Chỉ mở khi truyền tệp (LIST, RETR, STOR) và tự đóng ngay sau khi hoàn tất.</a:t>
            </a:r>
          </a:p>
          <a:p>
            <a:pPr>
              <a:defRPr sz="1150">
                <a:solidFill>
                  <a:srgbClr val="1E293B"/>
                </a:solidFill>
              </a:defRPr>
            </a:pPr>
            <a:r>
              <a:t>• Ưu điểm vượt trội: Tách biệt hoàn toàn luồng lệnh và luồng dữ liệu nhị phân nặng, tránh nghẽn socket, cho phép Client gửi lệnh ngắt phiên bất cứ lúc nào.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SO SÁNH: ACTIVE MODE VS PASSIVE MODE (PASV)</a:t>
            </a:r>
          </a:p>
        </p:txBody>
      </p:sp>
      <p:graphicFrame>
        <p:nvGraphicFramePr>
          <p:cNvPr id="4" name="Table 3"/>
          <p:cNvGraphicFramePr>
            <a:graphicFrameLocks noGrp="1"/>
          </p:cNvGraphicFramePr>
          <p:nvPr/>
        </p:nvGraphicFramePr>
        <p:xfrm>
          <a:off x="731520" y="1463040"/>
          <a:ext cx="10698480" cy="3840480"/>
        </p:xfrm>
        <a:graphic>
          <a:graphicData uri="http://schemas.openxmlformats.org/drawingml/2006/table">
            <a:tbl>
              <a:tblPr firstRow="1" bandRow="1">
                <a:tableStyleId>{5C22544A-7EE6-4342-B048-85BDC9FD1C3A}</a:tableStyleId>
              </a:tblPr>
              <a:tblGrid>
                <a:gridCol w="2926080"/>
                <a:gridCol w="3840480"/>
                <a:gridCol w="3931920"/>
              </a:tblGrid>
              <a:tr h="768096">
                <a:tc>
                  <a:txBody>
                    <a:bodyPr/>
                    <a:lstStyle/>
                    <a:p>
                      <a:pPr>
                        <a:defRPr sz="1200" b="1">
                          <a:solidFill>
                            <a:srgbClr val="FFFFFF"/>
                          </a:solidFill>
                        </a:defRPr>
                      </a:pPr>
                      <a:r>
                        <a:t>Tiêu chí so sánh</a:t>
                      </a:r>
                    </a:p>
                  </a:txBody>
                  <a:tcPr>
                    <a:solidFill>
                      <a:srgbClr val="002060"/>
                    </a:solidFill>
                  </a:tcPr>
                </a:tc>
                <a:tc>
                  <a:txBody>
                    <a:bodyPr/>
                    <a:lstStyle/>
                    <a:p>
                      <a:pPr>
                        <a:defRPr sz="1200" b="1">
                          <a:solidFill>
                            <a:srgbClr val="FFFFFF"/>
                          </a:solidFill>
                        </a:defRPr>
                      </a:pPr>
                      <a:r>
                        <a:t>Active Mode (PORT)</a:t>
                      </a:r>
                    </a:p>
                  </a:txBody>
                  <a:tcPr>
                    <a:solidFill>
                      <a:srgbClr val="002060"/>
                    </a:solidFill>
                  </a:tcPr>
                </a:tc>
                <a:tc>
                  <a:txBody>
                    <a:bodyPr/>
                    <a:lstStyle/>
                    <a:p>
                      <a:pPr>
                        <a:defRPr sz="1200" b="1">
                          <a:solidFill>
                            <a:srgbClr val="FFFFFF"/>
                          </a:solidFill>
                        </a:defRPr>
                      </a:pPr>
                      <a:r>
                        <a:t>Passive Mode (PASV) — Lựa chọn</a:t>
                      </a:r>
                    </a:p>
                  </a:txBody>
                  <a:tcPr>
                    <a:solidFill>
                      <a:srgbClr val="002060"/>
                    </a:solidFill>
                  </a:tcPr>
                </a:tc>
              </a:tr>
              <a:tr h="768096">
                <a:tc>
                  <a:txBody>
                    <a:bodyPr/>
                    <a:lstStyle/>
                    <a:p>
                      <a:pPr>
                        <a:defRPr sz="1150">
                          <a:solidFill>
                            <a:srgbClr val="1E293B"/>
                          </a:solidFill>
                        </a:defRPr>
                      </a:pPr>
                      <a:r>
                        <a:t>Khởi tạo Data Port</a:t>
                      </a:r>
                    </a:p>
                  </a:txBody>
                  <a:tcPr>
                    <a:solidFill>
                      <a:srgbClr val="FFFFFF"/>
                    </a:solidFill>
                  </a:tcPr>
                </a:tc>
                <a:tc>
                  <a:txBody>
                    <a:bodyPr/>
                    <a:lstStyle/>
                    <a:p>
                      <a:pPr>
                        <a:defRPr sz="1150">
                          <a:solidFill>
                            <a:srgbClr val="1E293B"/>
                          </a:solidFill>
                        </a:defRPr>
                      </a:pPr>
                      <a:r>
                        <a:t>Client mở cổng và gửi lệnh PORT báo Server.</a:t>
                      </a:r>
                    </a:p>
                  </a:txBody>
                  <a:tcPr>
                    <a:solidFill>
                      <a:srgbClr val="FFFFFF"/>
                    </a:solidFill>
                  </a:tcPr>
                </a:tc>
                <a:tc>
                  <a:txBody>
                    <a:bodyPr/>
                    <a:lstStyle/>
                    <a:p>
                      <a:pPr>
                        <a:defRPr sz="1150">
                          <a:solidFill>
                            <a:srgbClr val="1E293B"/>
                          </a:solidFill>
                        </a:defRPr>
                      </a:pPr>
                      <a:r>
                        <a:t>Server tự mở cổng và trả về trong phản hồi 227.</a:t>
                      </a:r>
                    </a:p>
                  </a:txBody>
                  <a:tcPr>
                    <a:solidFill>
                      <a:srgbClr val="FFFFFF"/>
                    </a:solidFill>
                  </a:tcPr>
                </a:tc>
              </a:tr>
              <a:tr h="768096">
                <a:tc>
                  <a:txBody>
                    <a:bodyPr/>
                    <a:lstStyle/>
                    <a:p>
                      <a:pPr>
                        <a:defRPr sz="1150">
                          <a:solidFill>
                            <a:srgbClr val="1E293B"/>
                          </a:solidFill>
                        </a:defRPr>
                      </a:pPr>
                      <a:r>
                        <a:t>Bên tạo kết nối Data</a:t>
                      </a:r>
                    </a:p>
                  </a:txBody>
                  <a:tcPr>
                    <a:solidFill>
                      <a:srgbClr val="F8FAFC"/>
                    </a:solidFill>
                  </a:tcPr>
                </a:tc>
                <a:tc>
                  <a:txBody>
                    <a:bodyPr/>
                    <a:lstStyle/>
                    <a:p>
                      <a:pPr>
                        <a:defRPr sz="1150">
                          <a:solidFill>
                            <a:srgbClr val="1E293B"/>
                          </a:solidFill>
                        </a:defRPr>
                      </a:pPr>
                      <a:r>
                        <a:t>Server chủ động kết nối ngược lại Client.</a:t>
                      </a:r>
                    </a:p>
                  </a:txBody>
                  <a:tcPr>
                    <a:solidFill>
                      <a:srgbClr val="F8FAFC"/>
                    </a:solidFill>
                  </a:tcPr>
                </a:tc>
                <a:tc>
                  <a:txBody>
                    <a:bodyPr/>
                    <a:lstStyle/>
                    <a:p>
                      <a:pPr>
                        <a:defRPr sz="1150">
                          <a:solidFill>
                            <a:srgbClr val="1E293B"/>
                          </a:solidFill>
                        </a:defRPr>
                      </a:pPr>
                      <a:r>
                        <a:t>Client chủ động kết nối tới Data Port của Server.</a:t>
                      </a:r>
                    </a:p>
                  </a:txBody>
                  <a:tcPr>
                    <a:solidFill>
                      <a:srgbClr val="F8FAFC"/>
                    </a:solidFill>
                  </a:tcPr>
                </a:tc>
              </a:tr>
              <a:tr h="768096">
                <a:tc>
                  <a:txBody>
                    <a:bodyPr/>
                    <a:lstStyle/>
                    <a:p>
                      <a:pPr>
                        <a:defRPr sz="1150">
                          <a:solidFill>
                            <a:srgbClr val="1E293B"/>
                          </a:solidFill>
                        </a:defRPr>
                      </a:pPr>
                      <a:r>
                        <a:t>Ảnh hưởng Firewall/NAT</a:t>
                      </a:r>
                    </a:p>
                  </a:txBody>
                  <a:tcPr>
                    <a:solidFill>
                      <a:srgbClr val="FFFFFF"/>
                    </a:solidFill>
                  </a:tcPr>
                </a:tc>
                <a:tc>
                  <a:txBody>
                    <a:bodyPr/>
                    <a:lstStyle/>
                    <a:p>
                      <a:pPr>
                        <a:defRPr sz="1150">
                          <a:solidFill>
                            <a:srgbClr val="1E293B"/>
                          </a:solidFill>
                        </a:defRPr>
                      </a:pPr>
                      <a:r>
                        <a:t>Rất dễ bị Tường lửa/NAT chặn do chiều vào.</a:t>
                      </a:r>
                    </a:p>
                  </a:txBody>
                  <a:tcPr>
                    <a:solidFill>
                      <a:srgbClr val="FFFFFF"/>
                    </a:solidFill>
                  </a:tcPr>
                </a:tc>
                <a:tc>
                  <a:txBody>
                    <a:bodyPr/>
                    <a:lstStyle/>
                    <a:p>
                      <a:pPr>
                        <a:defRPr sz="1150">
                          <a:solidFill>
                            <a:srgbClr val="1E293B"/>
                          </a:solidFill>
                        </a:defRPr>
                      </a:pPr>
                      <a:r>
                        <a:t>Vượt qua Firewall/NAT an toàn (kết nối chiều ra).</a:t>
                      </a:r>
                    </a:p>
                  </a:txBody>
                  <a:tcPr>
                    <a:solidFill>
                      <a:srgbClr val="FFFFFF"/>
                    </a:solidFill>
                  </a:tcPr>
                </a:tc>
              </a:tr>
              <a:tr h="768096">
                <a:tc>
                  <a:txBody>
                    <a:bodyPr/>
                    <a:lstStyle/>
                    <a:p>
                      <a:pPr>
                        <a:defRPr sz="1150">
                          <a:solidFill>
                            <a:srgbClr val="1E293B"/>
                          </a:solidFill>
                        </a:defRPr>
                      </a:pPr>
                      <a:r>
                        <a:t>Ứng dụng thực tế</a:t>
                      </a:r>
                    </a:p>
                  </a:txBody>
                  <a:tcPr>
                    <a:solidFill>
                      <a:srgbClr val="F8FAFC"/>
                    </a:solidFill>
                  </a:tcPr>
                </a:tc>
                <a:tc>
                  <a:txBody>
                    <a:bodyPr/>
                    <a:lstStyle/>
                    <a:p>
                      <a:pPr>
                        <a:defRPr sz="1150">
                          <a:solidFill>
                            <a:srgbClr val="1E293B"/>
                          </a:solidFill>
                        </a:defRPr>
                      </a:pPr>
                      <a:r>
                        <a:t>Hầu như đã lỗi thời trên Internet hiện đại.</a:t>
                      </a:r>
                    </a:p>
                  </a:txBody>
                  <a:tcPr>
                    <a:solidFill>
                      <a:srgbClr val="F8FAFC"/>
                    </a:solidFill>
                  </a:tcPr>
                </a:tc>
                <a:tc>
                  <a:txBody>
                    <a:bodyPr/>
                    <a:lstStyle/>
                    <a:p>
                      <a:pPr>
                        <a:defRPr sz="1150">
                          <a:solidFill>
                            <a:srgbClr val="1E293B"/>
                          </a:solidFill>
                        </a:defRPr>
                      </a:pPr>
                      <a:r>
                        <a:t>Tiêu chuẩn mặc định của FileZilla, WinSCP, v.v.</a:t>
                      </a:r>
                    </a:p>
                  </a:txBody>
                  <a:tcPr>
                    <a:solidFill>
                      <a:srgbClr val="F8FAFC"/>
                    </a:solidFill>
                  </a:tcPr>
                </a:tc>
              </a:tr>
            </a:tbl>
          </a:graphicData>
        </a:graphic>
      </p:graphicFrame>
      <p:sp>
        <p:nvSpPr>
          <p:cNvPr id="5" name="Rounded Rectangle 4"/>
          <p:cNvSpPr/>
          <p:nvPr/>
        </p:nvSpPr>
        <p:spPr>
          <a:xfrm>
            <a:off x="731520" y="5577840"/>
            <a:ext cx="10698480" cy="7315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002060"/>
                </a:solidFill>
              </a:defRPr>
            </a:pPr>
            <a:r>
              <a:t>KẾT LUẬN: PASSIVE MODE GIÚP ỨNG DỤNG HOẠT ĐỘNG HOÀN HẢO QUA WI-FI, LAN VÀ INTERNET!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GIẢI THUẬT TÍNH TOÁN CỔNG TRONG LỆNH PASV</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400" b="1">
                <a:solidFill>
                  <a:srgbClr val="002060"/>
                </a:solidFill>
              </a:defRPr>
            </a:pPr>
            <a:r>
              <a:t>CƠ CHẾ PHẢN HỒI 227 (RFC 959)</a:t>
            </a:r>
          </a:p>
          <a:p>
            <a:pPr>
              <a:defRPr sz="1200">
                <a:solidFill>
                  <a:srgbClr val="1E293B"/>
                </a:solidFill>
              </a:defRPr>
            </a:pPr>
            <a:r>
              <a:t>Phản hồi từ Server:</a:t>
            </a:r>
            <a:br/>
            <a:r>
              <a:t>227 Entering Passive Mode (h1,h2,h3,h4,p1,p2).</a:t>
            </a:r>
          </a:p>
          <a:p>
            <a:pPr>
              <a:defRPr sz="1200">
                <a:solidFill>
                  <a:srgbClr val="1E293B"/>
                </a:solidFill>
              </a:defRPr>
            </a:pPr>
            <a:r>
              <a:t>(h1, h2, h3, h4): 4 octet IPv4 của Server</a:t>
            </a:r>
            <a:br/>
            <a:r>
              <a:t>Ví dụ: 192.168.1.15</a:t>
            </a:r>
          </a:p>
          <a:p>
            <a:pPr>
              <a:defRPr sz="1200">
                <a:solidFill>
                  <a:srgbClr val="1E293B"/>
                </a:solidFill>
              </a:defRPr>
            </a:pPr>
            <a:r>
              <a:t>(p1, p2): Biểu diễn nhị phân 16-bit của cổng dữ liệu</a:t>
            </a:r>
            <a:br/>
            <a:r>
              <a:t>• p1: 8-bit bậc cao (High-order byte)</a:t>
            </a:r>
            <a:br/>
            <a:r>
              <a:t>• p2: 8-bit bậc thấp (Low-order byte)</a:t>
            </a:r>
          </a:p>
          <a:p>
            <a:pPr>
              <a:defRPr sz="1200">
                <a:solidFill>
                  <a:srgbClr val="1E293B"/>
                </a:solidFill>
              </a:defRPr>
            </a:pPr>
            <a:r>
              <a:t>Công thức giải mã tại Client:</a:t>
            </a:r>
            <a:br/>
            <a:r>
              <a:t>Port = p1 * 256 + p2 = (p1 &lt;&lt; 8) | p2</a:t>
            </a:r>
          </a:p>
          <a:p>
            <a:pPr>
              <a:defRPr sz="1200">
                <a:solidFill>
                  <a:srgbClr val="1E293B"/>
                </a:solidFill>
              </a:defRPr>
            </a:pPr>
            <a:r>
              <a:t>Công thức mã hóa tại Server:</a:t>
            </a:r>
            <a:br/>
            <a:r>
              <a:t>p1 = floor(Port / 256)</a:t>
            </a:r>
            <a:br/>
            <a:r>
              <a:t>p2 = Port % 256</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400" b="1">
                <a:solidFill>
                  <a:srgbClr val="0E7490"/>
                </a:solidFill>
              </a:defRPr>
            </a:pPr>
            <a:r>
              <a:t>VÍ DỤ THỰC TẾ &amp; MÃ NGUỒN</a:t>
            </a:r>
          </a:p>
          <a:p>
            <a:pPr>
              <a:defRPr sz="1200">
                <a:solidFill>
                  <a:srgbClr val="1E293B"/>
                </a:solidFill>
              </a:defRPr>
            </a:pPr>
            <a:r>
              <a:t>Ví dụ cổng dữ liệu cấp phát là 50024:</a:t>
            </a:r>
          </a:p>
          <a:p>
            <a:pPr>
              <a:defRPr sz="1200">
                <a:solidFill>
                  <a:srgbClr val="1E293B"/>
                </a:solidFill>
              </a:defRPr>
            </a:pPr>
            <a:r>
              <a:t>• p1 = 50024 / 256 = 195</a:t>
            </a:r>
            <a:br/>
            <a:r>
              <a:t>• p2 = 50024 % 256 = 104</a:t>
            </a:r>
            <a:br/>
            <a:r>
              <a:t>=&gt; Server gửi: 227 Entering Passive Mode (192,168,1,15,195,104).</a:t>
            </a:r>
          </a:p>
          <a:p>
            <a:pPr>
              <a:defRPr sz="1200">
                <a:solidFill>
                  <a:srgbClr val="1E293B"/>
                </a:solidFill>
              </a:defRPr>
            </a:pPr>
            <a:r>
              <a:t>Tại Client (PassiveModeInfo.java):</a:t>
            </a:r>
            <a:br/>
            <a:r>
              <a:t>• Đọc regex: h1, h2, h3, h4, p1, p2</a:t>
            </a:r>
            <a:br/>
            <a:r>
              <a:t>• Tính port: 195 * 256 + 104 = 50024</a:t>
            </a:r>
            <a:br/>
            <a:r>
              <a:t>• Mở Socket tới 192.168.1.15:50024</a:t>
            </a:r>
          </a:p>
          <a:p>
            <a:pPr>
              <a:defRPr sz="1200">
                <a:solidFill>
                  <a:srgbClr val="1E293B"/>
                </a:solidFill>
              </a:defRPr>
            </a:pPr>
            <a:r>
              <a:t>Cơ chế Fallback thông minh của nhóm:</a:t>
            </a:r>
            <a:br/>
            <a:r>
              <a:t>Nếu Server gửi 127.0.0.1 nhưng Client kết nối từ máy khác qua LAN -&gt; Tự động dùng IP của máy Server để kết nối Data Socket!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TẬP LỆNH ĐIỀU KHIỂN &amp; MÃ PHẢN HỒI (RFC 959)</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300" b="1">
                <a:solidFill>
                  <a:srgbClr val="002060"/>
                </a:solidFill>
              </a:defRPr>
            </a:pPr>
            <a:r>
              <a:t>CÁC LỆNH ĐIỀU KHIỂN CHÍNH</a:t>
            </a:r>
          </a:p>
          <a:p>
            <a:pPr>
              <a:defRPr sz="1100"/>
            </a:pPr>
            <a:r>
              <a:t>• USER / PASS : Xác thực danh tính người dùng</a:t>
            </a:r>
          </a:p>
          <a:p>
            <a:pPr>
              <a:defRPr sz="1100"/>
            </a:pPr>
            <a:r>
              <a:t>• PWD         : Xem đường dẫn thư mục hiện hành</a:t>
            </a:r>
          </a:p>
          <a:p>
            <a:pPr>
              <a:defRPr sz="1100"/>
            </a:pPr>
            <a:r>
              <a:t>• CWD / CDUP  : Chuyển thư mục / Lên thư mục cha</a:t>
            </a:r>
          </a:p>
          <a:p>
            <a:pPr>
              <a:defRPr sz="1100"/>
            </a:pPr>
            <a:r>
              <a:t>• PASV        : Mở kênh dữ liệu Passive Mode</a:t>
            </a:r>
          </a:p>
          <a:p>
            <a:pPr>
              <a:defRPr sz="1100"/>
            </a:pPr>
            <a:r>
              <a:t>• LIST / NLST : Liệt kê danh sách tệp qua Data Channel</a:t>
            </a:r>
          </a:p>
          <a:p>
            <a:pPr>
              <a:defRPr sz="1100"/>
            </a:pPr>
            <a:r>
              <a:t>• RETR &lt;file&gt; : Tải tệp từ Server về Client (Download)</a:t>
            </a:r>
          </a:p>
          <a:p>
            <a:pPr>
              <a:defRPr sz="1100"/>
            </a:pPr>
            <a:r>
              <a:t>• STOR &lt;file&gt; : Tải tệp từ Client lên Server (Upload)</a:t>
            </a:r>
          </a:p>
          <a:p>
            <a:pPr>
              <a:defRPr sz="1100"/>
            </a:pPr>
            <a:r>
              <a:t>• DELE / MKD  : Xóa tệp tin / Tạo thư mục mới</a:t>
            </a:r>
          </a:p>
          <a:p>
            <a:pPr>
              <a:defRPr sz="1100"/>
            </a:pPr>
            <a:r>
              <a:t>• NOOP / QUIT : Giữ kết nối (Keep-alive) / Thoát phiên</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300" b="1">
                <a:solidFill>
                  <a:srgbClr val="0E7490"/>
                </a:solidFill>
              </a:defRPr>
            </a:pPr>
            <a:r>
              <a:t>MÃ TRẠNG THÁI PHẢN HỒI (3 CHỮ SỐ)</a:t>
            </a:r>
          </a:p>
          <a:p>
            <a:pPr>
              <a:defRPr sz="1100"/>
            </a:pPr>
            <a:r>
              <a:t>• 150: File status okay; about to open data connection</a:t>
            </a:r>
          </a:p>
          <a:p>
            <a:pPr>
              <a:defRPr sz="1100"/>
            </a:pPr>
            <a:r>
              <a:t>• 200: Command okay (NOOP, TYPE I)</a:t>
            </a:r>
          </a:p>
          <a:p>
            <a:pPr>
              <a:defRPr sz="1100"/>
            </a:pPr>
            <a:r>
              <a:t>• 220: Service ready for new user (Chào mừng)</a:t>
            </a:r>
          </a:p>
          <a:p>
            <a:pPr>
              <a:defRPr sz="1100"/>
            </a:pPr>
            <a:r>
              <a:t>• 226: Closing data connection; transfer complete</a:t>
            </a:r>
          </a:p>
          <a:p>
            <a:pPr>
              <a:defRPr sz="1100"/>
            </a:pPr>
            <a:r>
              <a:t>• 227: Entering Passive Mode (h1,h2,h3,h4,p1,p2)</a:t>
            </a:r>
          </a:p>
          <a:p>
            <a:pPr>
              <a:defRPr sz="1100"/>
            </a:pPr>
            <a:r>
              <a:t>• 230: User logged in, proceed</a:t>
            </a:r>
          </a:p>
          <a:p>
            <a:pPr>
              <a:defRPr sz="1100"/>
            </a:pPr>
            <a:r>
              <a:t>• 250: Requested file action okay, completed</a:t>
            </a:r>
          </a:p>
          <a:p>
            <a:pPr>
              <a:defRPr sz="1100"/>
            </a:pPr>
            <a:r>
              <a:t>• 331: User name okay, need password</a:t>
            </a:r>
          </a:p>
          <a:p>
            <a:pPr>
              <a:defRPr sz="1100"/>
            </a:pPr>
            <a:r>
              <a:t>• 426: Connection closed; transfer aborted</a:t>
            </a:r>
          </a:p>
          <a:p>
            <a:pPr>
              <a:defRPr sz="1100"/>
            </a:pPr>
            <a:r>
              <a:t>• 550: File unavailable / Path Traversal denied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1800" b="1">
                <a:solidFill>
                  <a:srgbClr val="FFC000"/>
                </a:solidFill>
              </a:defRPr>
            </a:pPr>
            <a:r>
              <a:t>PHẦN 02</a:t>
            </a:r>
          </a:p>
          <a:p>
            <a:pPr>
              <a:defRPr sz="3400" b="1">
                <a:solidFill>
                  <a:srgbClr val="FFFFFF"/>
                </a:solidFill>
              </a:defRPr>
            </a:pPr>
            <a:r>
              <a:t>THIẾT KẾ &amp; HIỆN THỰC HÓA HỆ THỐNG</a:t>
            </a:r>
          </a:p>
          <a:p>
            <a:pPr>
              <a:defRPr sz="1500">
                <a:solidFill>
                  <a:srgbClr val="C8DCFF"/>
                </a:solidFill>
              </a:defRPr>
            </a:pPr>
            <a:r>
              <a:t>Chi tiết cài đặt: Server (Tiến) — Data Channel (Trọng) — Client (Vũ)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HIỆN THỰC HÓA FTP SERVER ĐA LUỒNG (TRẦN NHẬT TIẾN)</a:t>
            </a:r>
          </a:p>
        </p:txBody>
      </p:sp>
      <p:sp>
        <p:nvSpPr>
          <p:cNvPr id="4" name="Rounded Rectangle 3"/>
          <p:cNvSpPr/>
          <p:nvPr/>
        </p:nvSpPr>
        <p:spPr>
          <a:xfrm>
            <a:off x="731520" y="137160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1920240"/>
          </a:xfrm>
          <a:prstGeom prst="rect">
            <a:avLst/>
          </a:prstGeom>
          <a:noFill/>
        </p:spPr>
        <p:txBody>
          <a:bodyPr wrap="none">
            <a:spAutoFit/>
          </a:bodyPr>
          <a:lstStyle/>
          <a:p>
            <a:pPr>
              <a:defRPr sz="1300" b="1">
                <a:solidFill>
                  <a:srgbClr val="002060"/>
                </a:solidFill>
              </a:defRPr>
            </a:pPr>
            <a:r>
              <a:t>FtpServer.java</a:t>
            </a:r>
          </a:p>
          <a:p>
            <a:pPr>
              <a:defRPr sz="1000" b="1">
                <a:solidFill>
                  <a:srgbClr val="0E7490"/>
                </a:solidFill>
              </a:defRPr>
            </a:pPr>
            <a:r>
              <a:t>LỚP ĐIỀU PHỐI CHÍNH &amp; CONSOLE</a:t>
            </a:r>
          </a:p>
          <a:p>
            <a:pPr>
              <a:defRPr sz="1100">
                <a:solidFill>
                  <a:srgbClr val="1E293B"/>
                </a:solidFill>
              </a:defRPr>
            </a:pPr>
            <a:r>
              <a:t>Khởi tạo ServerSocket trên cổng 2121. Quản lý luồng xử lý bằng ExecutorService (CachedThreadPool). Tích hợp luồng Admin Console trực tiếp (status, users, adduser, exit).</a:t>
            </a:r>
          </a:p>
        </p:txBody>
      </p:sp>
      <p:sp>
        <p:nvSpPr>
          <p:cNvPr id="6" name="Rounded Rectangle 5"/>
          <p:cNvSpPr/>
          <p:nvPr/>
        </p:nvSpPr>
        <p:spPr>
          <a:xfrm>
            <a:off x="6217920" y="137160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1920240"/>
          </a:xfrm>
          <a:prstGeom prst="rect">
            <a:avLst/>
          </a:prstGeom>
          <a:noFill/>
        </p:spPr>
        <p:txBody>
          <a:bodyPr wrap="none">
            <a:spAutoFit/>
          </a:bodyPr>
          <a:lstStyle/>
          <a:p>
            <a:pPr>
              <a:defRPr sz="1300" b="1">
                <a:solidFill>
                  <a:srgbClr val="002060"/>
                </a:solidFill>
              </a:defRPr>
            </a:pPr>
            <a:r>
              <a:t>ClientHandler.java</a:t>
            </a:r>
          </a:p>
          <a:p>
            <a:pPr>
              <a:defRPr sz="1000" b="1">
                <a:solidFill>
                  <a:srgbClr val="0E7490"/>
                </a:solidFill>
              </a:defRPr>
            </a:pPr>
            <a:r>
              <a:t>LUỒNG XỬ LÝ PHIÊN CLIENT</a:t>
            </a:r>
          </a:p>
          <a:p>
            <a:pPr>
              <a:defRPr sz="1100">
                <a:solidFill>
                  <a:srgbClr val="1E293B"/>
                </a:solidFill>
              </a:defRPr>
            </a:pPr>
            <a:r>
              <a:t>Kế thừa Runnable. Quản lý toàn bộ vòng đời của Client, kiểm soát trạng thái đăng nhập, phân tích cú pháp lệnh (Parser) và điều hướng xử lý các lệnh FTP.</a:t>
            </a:r>
          </a:p>
        </p:txBody>
      </p:sp>
      <p:sp>
        <p:nvSpPr>
          <p:cNvPr id="8" name="Rounded Rectangle 7"/>
          <p:cNvSpPr/>
          <p:nvPr/>
        </p:nvSpPr>
        <p:spPr>
          <a:xfrm>
            <a:off x="731520" y="384048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1920240"/>
          </a:xfrm>
          <a:prstGeom prst="rect">
            <a:avLst/>
          </a:prstGeom>
          <a:noFill/>
        </p:spPr>
        <p:txBody>
          <a:bodyPr wrap="none">
            <a:spAutoFit/>
          </a:bodyPr>
          <a:lstStyle/>
          <a:p>
            <a:pPr>
              <a:defRPr sz="1300" b="1">
                <a:solidFill>
                  <a:srgbClr val="002060"/>
                </a:solidFill>
              </a:defRPr>
            </a:pPr>
            <a:r>
              <a:t>PassiveDataConnection.java</a:t>
            </a:r>
          </a:p>
          <a:p>
            <a:pPr>
              <a:defRPr sz="1000" b="1">
                <a:solidFill>
                  <a:srgbClr val="0E7490"/>
                </a:solidFill>
              </a:defRPr>
            </a:pPr>
            <a:r>
              <a:t>QUẢN LÝ DATA CHANNEL</a:t>
            </a:r>
          </a:p>
          <a:p>
            <a:pPr>
              <a:defRPr sz="1100">
                <a:solidFill>
                  <a:srgbClr val="1E293B"/>
                </a:solidFill>
              </a:defRPr>
            </a:pPr>
            <a:r>
              <a:t>Mở ServerSocket trên cổng ngẫu nhiên trong dải 50000 - 50100. Tính toán chuỗi phản hồi 227. Tiếp nhận socket dữ liệu và stream byte nhị phân.</a:t>
            </a:r>
          </a:p>
        </p:txBody>
      </p:sp>
      <p:sp>
        <p:nvSpPr>
          <p:cNvPr id="10" name="Rounded Rectangle 9"/>
          <p:cNvSpPr/>
          <p:nvPr/>
        </p:nvSpPr>
        <p:spPr>
          <a:xfrm>
            <a:off x="6217920" y="384048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40"/>
            <a:ext cx="4846320" cy="1920240"/>
          </a:xfrm>
          <a:prstGeom prst="rect">
            <a:avLst/>
          </a:prstGeom>
          <a:noFill/>
        </p:spPr>
        <p:txBody>
          <a:bodyPr wrap="none">
            <a:spAutoFit/>
          </a:bodyPr>
          <a:lstStyle/>
          <a:p>
            <a:pPr>
              <a:defRPr sz="1300" b="1">
                <a:solidFill>
                  <a:srgbClr val="002060"/>
                </a:solidFill>
              </a:defRPr>
            </a:pPr>
            <a:r>
              <a:t>UserManager &amp; ServerLogger</a:t>
            </a:r>
          </a:p>
          <a:p>
            <a:pPr>
              <a:defRPr sz="1000" b="1">
                <a:solidFill>
                  <a:srgbClr val="0E7490"/>
                </a:solidFill>
              </a:defRPr>
            </a:pPr>
            <a:r>
              <a:t>XÁC THỰC &amp; GHI NHẬT KÝ</a:t>
            </a:r>
          </a:p>
          <a:p>
            <a:pPr>
              <a:defRPr sz="1100">
                <a:solidFill>
                  <a:srgbClr val="1E293B"/>
                </a:solidFill>
              </a:defRPr>
            </a:pPr>
            <a:r>
              <a:t>Quản lý tài khoản (tien, vu, trong, admin). Ghi log đồng thời ra màn hình Console và tệp server.log với nhãn thời gian và IP của từng Client.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BẢO MẬT SANDBOX ROOT &amp; CHỐNG PATH TRAVERSAL</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400" b="1">
                <a:solidFill>
                  <a:srgbClr val="DC2626"/>
                </a:solidFill>
              </a:defRPr>
            </a:pPr>
            <a:r>
              <a:t>NGUY CƠ: DIRECTORY TRAVERSAL</a:t>
            </a:r>
          </a:p>
          <a:p>
            <a:pPr>
              <a:defRPr sz="1250"/>
            </a:pPr>
            <a:r>
              <a:t>• Kẻ tấn công gửi các chuỗi điều hướng thư mục tương đối như: ../../../ hoặc ..\..\</a:t>
            </a:r>
          </a:p>
          <a:p>
            <a:pPr>
              <a:defRPr sz="1250"/>
            </a:pPr>
            <a:r>
              <a:t>• Mục đích: Thoát khỏi thư mục được cấp quyền để đọc trộm hoặc ghi đè các tệp nhạy cảm (C:\Windows\System32, tệp cấu hình).</a:t>
            </a:r>
          </a:p>
          <a:p>
            <a:pPr>
              <a:defRPr sz="1250"/>
            </a:pPr>
            <a:r>
              <a:t>• Nếu không có cơ chế bảo vệ, lệnh RETR ../../../passwords.txt sẽ làm lộ lọt dữ liệu máy chủ ngay lập tức!</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400" b="1">
                <a:solidFill>
                  <a:srgbClr val="16A34A"/>
                </a:solidFill>
              </a:defRPr>
            </a:pPr>
            <a:r>
              <a:t>GIẢI PHÁP THUẬT TOÁN CỦA TIẾN</a:t>
            </a:r>
          </a:p>
          <a:p>
            <a:pPr>
              <a:defRPr sz="1200"/>
            </a:pPr>
            <a:r>
              <a:t>1. Xác định đường dẫn gốc chuẩn hóa:</a:t>
            </a:r>
            <a:br/>
            <a:r>
              <a:t>canonicalRoot = rootDir.getCanonicalPath()</a:t>
            </a:r>
          </a:p>
          <a:p>
            <a:pPr>
              <a:defRPr sz="1200"/>
            </a:pPr>
            <a:r>
              <a:t>2. Chuẩn hóa đường dẫn tệp đích:</a:t>
            </a:r>
            <a:br/>
            <a:r>
              <a:t>canonicalTarget = target.getCanonicalPath()</a:t>
            </a:r>
          </a:p>
          <a:p>
            <a:pPr>
              <a:defRPr sz="1200"/>
            </a:pPr>
            <a:r>
              <a:t>3. Kiểm tra điều kiện nghiêm ngặt:</a:t>
            </a:r>
            <a:br/>
            <a:r>
              <a:t>if (!canonicalTarget.startsWith(canonicalRoot)) {</a:t>
            </a:r>
            <a:br/>
            <a:r>
              <a:t>    sendResponse(550, "Permission denied");</a:t>
            </a:r>
            <a:br/>
            <a:r>
              <a:t>    return null;</a:t>
            </a:r>
            <a:br/>
            <a:r>
              <a:t>}</a:t>
            </a:r>
          </a:p>
          <a:p>
            <a:pPr>
              <a:defRPr sz="1200"/>
            </a:pPr>
            <a:r>
              <a:t>KẾT QUẢ KIỂM THỬ: Ngăn chặn 100% mọi hành vi cố tình leo thang thư mục, bảo vệ tuyệt đối hệ thống!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HIỆN THỰC HÓA MODULE DATA CHANNEL (PHAN THANH TRỌNG)</a:t>
            </a:r>
          </a:p>
        </p:txBody>
      </p:sp>
      <p:sp>
        <p:nvSpPr>
          <p:cNvPr id="4" name="Rounded Rectangle 3"/>
          <p:cNvSpPr/>
          <p:nvPr/>
        </p:nvSpPr>
        <p:spPr>
          <a:xfrm>
            <a:off x="731520" y="137160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1920240"/>
          </a:xfrm>
          <a:prstGeom prst="rect">
            <a:avLst/>
          </a:prstGeom>
          <a:noFill/>
        </p:spPr>
        <p:txBody>
          <a:bodyPr wrap="none">
            <a:spAutoFit/>
          </a:bodyPr>
          <a:lstStyle/>
          <a:p>
            <a:pPr>
              <a:defRPr sz="1300" b="1">
                <a:solidFill>
                  <a:srgbClr val="0E7490"/>
                </a:solidFill>
              </a:defRPr>
            </a:pPr>
            <a:r>
              <a:t>DataChannelHelper.java</a:t>
            </a:r>
          </a:p>
          <a:p>
            <a:pPr>
              <a:defRPr sz="1000" b="1">
                <a:solidFill>
                  <a:srgbClr val="002060"/>
                </a:solidFill>
              </a:defRPr>
            </a:pPr>
            <a:r>
              <a:t>TRUYỀN NHẬN LUỒNG NHỊ PHÂN</a:t>
            </a:r>
          </a:p>
          <a:p>
            <a:pPr>
              <a:defRPr sz="1100">
                <a:solidFill>
                  <a:srgbClr val="1E293B"/>
                </a:solidFill>
              </a:defRPr>
            </a:pPr>
            <a:r>
              <a:t>Thực hiện vòng lặp đọc ghi theo khối đệm tối ưu 8192 bytes (8 KB). Tương thích với TCP Window và Ethernet MTU, đạt tốc độ truyền tải tối đa và giải phóng socket an toàn.</a:t>
            </a:r>
          </a:p>
        </p:txBody>
      </p:sp>
      <p:sp>
        <p:nvSpPr>
          <p:cNvPr id="6" name="Rounded Rectangle 5"/>
          <p:cNvSpPr/>
          <p:nvPr/>
        </p:nvSpPr>
        <p:spPr>
          <a:xfrm>
            <a:off x="6217920" y="137160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1920240"/>
          </a:xfrm>
          <a:prstGeom prst="rect">
            <a:avLst/>
          </a:prstGeom>
          <a:noFill/>
        </p:spPr>
        <p:txBody>
          <a:bodyPr wrap="none">
            <a:spAutoFit/>
          </a:bodyPr>
          <a:lstStyle/>
          <a:p>
            <a:pPr>
              <a:defRPr sz="1300" b="1">
                <a:solidFill>
                  <a:srgbClr val="0E7490"/>
                </a:solidFill>
              </a:defRPr>
            </a:pPr>
            <a:r>
              <a:t>PassiveModeInfo.java</a:t>
            </a:r>
          </a:p>
          <a:p>
            <a:pPr>
              <a:defRPr sz="1000" b="1">
                <a:solidFill>
                  <a:srgbClr val="002060"/>
                </a:solidFill>
              </a:defRPr>
            </a:pPr>
            <a:r>
              <a:t>PHÂN TÍCH ĐỊA CHỈ THỤ ĐỘNG</a:t>
            </a:r>
          </a:p>
          <a:p>
            <a:pPr>
              <a:defRPr sz="1100">
                <a:solidFill>
                  <a:srgbClr val="1E293B"/>
                </a:solidFill>
              </a:defRPr>
            </a:pPr>
            <a:r>
              <a:t>Sử dụng biểu thức chính quy (Regex) bóc tách chính xác 6 số (h1,h2,h3,h4,p1,p2) từ phản hồi 227 của Server. Tính toán cổng Data_Port = p1 * 256 + p2.</a:t>
            </a:r>
          </a:p>
        </p:txBody>
      </p:sp>
      <p:sp>
        <p:nvSpPr>
          <p:cNvPr id="8" name="Rounded Rectangle 7"/>
          <p:cNvSpPr/>
          <p:nvPr/>
        </p:nvSpPr>
        <p:spPr>
          <a:xfrm>
            <a:off x="731520" y="384048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1920240"/>
          </a:xfrm>
          <a:prstGeom prst="rect">
            <a:avLst/>
          </a:prstGeom>
          <a:noFill/>
        </p:spPr>
        <p:txBody>
          <a:bodyPr wrap="none">
            <a:spAutoFit/>
          </a:bodyPr>
          <a:lstStyle/>
          <a:p>
            <a:pPr>
              <a:defRPr sz="1300" b="1">
                <a:solidFill>
                  <a:srgbClr val="0E7490"/>
                </a:solidFill>
              </a:defRPr>
            </a:pPr>
            <a:r>
              <a:t>DataTransferListener.java</a:t>
            </a:r>
          </a:p>
          <a:p>
            <a:pPr>
              <a:defRPr sz="1000" b="1">
                <a:solidFill>
                  <a:srgbClr val="002060"/>
                </a:solidFill>
              </a:defRPr>
            </a:pPr>
            <a:r>
              <a:t>CALLBACK TIẾN ĐỘ THỜI GIAN THỰC</a:t>
            </a:r>
          </a:p>
          <a:p>
            <a:pPr>
              <a:defRPr sz="1100">
                <a:solidFill>
                  <a:srgbClr val="1E293B"/>
                </a:solidFill>
              </a:defRPr>
            </a:pPr>
            <a:r>
              <a:t>Interface định nghĩa 4 sự kiện callback: onTransferStart, onTransferProgress, onTransferComplete và onTransferError. Cung cấp dữ liệu % cho giao diện người dùng.</a:t>
            </a:r>
          </a:p>
        </p:txBody>
      </p:sp>
      <p:sp>
        <p:nvSpPr>
          <p:cNvPr id="10" name="Rounded Rectangle 9"/>
          <p:cNvSpPr/>
          <p:nvPr/>
        </p:nvSpPr>
        <p:spPr>
          <a:xfrm>
            <a:off x="6217920" y="3840480"/>
            <a:ext cx="5212080" cy="21945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40"/>
            <a:ext cx="4846320" cy="1920240"/>
          </a:xfrm>
          <a:prstGeom prst="rect">
            <a:avLst/>
          </a:prstGeom>
          <a:noFill/>
        </p:spPr>
        <p:txBody>
          <a:bodyPr wrap="none">
            <a:spAutoFit/>
          </a:bodyPr>
          <a:lstStyle/>
          <a:p>
            <a:pPr>
              <a:defRPr sz="1300" b="1">
                <a:solidFill>
                  <a:srgbClr val="0E7490"/>
                </a:solidFill>
              </a:defRPr>
            </a:pPr>
            <a:r>
              <a:t>Benchmark Test Suite</a:t>
            </a:r>
          </a:p>
          <a:p>
            <a:pPr>
              <a:defRPr sz="1000" b="1">
                <a:solidFill>
                  <a:srgbClr val="002060"/>
                </a:solidFill>
              </a:defRPr>
            </a:pPr>
            <a:r>
              <a:t>BỘ KIỂM THỬ HIỆU NĂNG TỰ ĐỘNG</a:t>
            </a:r>
          </a:p>
          <a:p>
            <a:pPr>
              <a:defRPr sz="1100">
                <a:solidFill>
                  <a:srgbClr val="1E293B"/>
                </a:solidFill>
              </a:defRPr>
            </a:pPr>
            <a:r>
              <a:t>Viết bộ script kiểm thử tự động toàn diện bằng cả Java và Python. Tự động sinh dữ liệu mẫu, đo đạc tốc độ (MB/s) và đối chiếu mã băm SHA-256.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HIỆN THỰC HÓA GIAO DIỆN CLIENT SWING UI (NGUYỄN ANH VŨ)</a:t>
            </a:r>
          </a:p>
        </p:txBody>
      </p:sp>
      <p:pic>
        <p:nvPicPr>
          <p:cNvPr id="4" name="Picture 3" descr="gui_client_mockup.png"/>
          <p:cNvPicPr>
            <a:picLocks noChangeAspect="1"/>
          </p:cNvPicPr>
          <p:nvPr/>
        </p:nvPicPr>
        <p:blipFill>
          <a:blip r:embed="rId2"/>
          <a:stretch>
            <a:fillRect/>
          </a:stretch>
        </p:blipFill>
        <p:spPr>
          <a:xfrm>
            <a:off x="731520" y="1371600"/>
            <a:ext cx="6583680" cy="4526280"/>
          </a:xfrm>
          <a:prstGeom prst="rect">
            <a:avLst/>
          </a:prstGeom>
        </p:spPr>
      </p:pic>
      <p:sp>
        <p:nvSpPr>
          <p:cNvPr id="5" name="Rounded Rectangle 4"/>
          <p:cNvSpPr/>
          <p:nvPr/>
        </p:nvSpPr>
        <p:spPr>
          <a:xfrm>
            <a:off x="7589520" y="1371600"/>
            <a:ext cx="38404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554480"/>
            <a:ext cx="3474720" cy="4480560"/>
          </a:xfrm>
          <a:prstGeom prst="rect">
            <a:avLst/>
          </a:prstGeom>
          <a:noFill/>
        </p:spPr>
        <p:txBody>
          <a:bodyPr wrap="none">
            <a:spAutoFit/>
          </a:bodyPr>
          <a:lstStyle/>
          <a:p>
            <a:pPr>
              <a:defRPr sz="1400" b="1">
                <a:solidFill>
                  <a:srgbClr val="002060"/>
                </a:solidFill>
              </a:defRPr>
            </a:pPr>
            <a:r>
              <a:t>TÍNH NĂNG CLIENT HIỆN ĐẠI</a:t>
            </a:r>
          </a:p>
          <a:p>
            <a:pPr>
              <a:defRPr sz="1150">
                <a:solidFill>
                  <a:srgbClr val="1E293B"/>
                </a:solidFill>
              </a:defRPr>
            </a:pPr>
            <a:r>
              <a:t>• Giao diện Swing trực quan: Bảng JTable hiển thị danh sách tệp với kích thước, ngày sửa; thanh đường dẫn; nút tạo thư mục, xóa, tải lên, tải xuống.</a:t>
            </a:r>
          </a:p>
          <a:p>
            <a:pPr>
              <a:defRPr sz="1150">
                <a:solidFill>
                  <a:srgbClr val="1E293B"/>
                </a:solidFill>
              </a:defRPr>
            </a:pPr>
            <a:r>
              <a:t>• Xử lý ngầm (SwingWorker): FileTransferTask chạy truyền file trong background thread, giúp giao diện không bị đơ giật khi truyền tệp lớn.</a:t>
            </a:r>
          </a:p>
          <a:p>
            <a:pPr>
              <a:defRPr sz="1150">
                <a:solidFill>
                  <a:srgbClr val="1E293B"/>
                </a:solidFill>
              </a:defRPr>
            </a:pPr>
            <a:r>
              <a:t>• Tiến trình JProgressBar: Cập nhật liên tục số bytes đã truyền, dung lượng tổng và % hoàn thành.</a:t>
            </a:r>
          </a:p>
          <a:p>
            <a:pPr>
              <a:defRPr sz="1150">
                <a:solidFill>
                  <a:srgbClr val="1E293B"/>
                </a:solidFill>
              </a:defRPr>
            </a:pPr>
            <a:r>
              <a:t>• Bộ điều khiển mạng (Controller): Quản lý socket, tự động gửi NOOP giữ phiên sau mỗi 60 giây rảnh.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BIỂU ĐỒ TUẦN TỰ (SEQUENCE DIAGRAMS)</a:t>
            </a:r>
          </a:p>
        </p:txBody>
      </p:sp>
      <p:pic>
        <p:nvPicPr>
          <p:cNvPr id="4" name="Picture 3" descr="seq_auth.png"/>
          <p:cNvPicPr>
            <a:picLocks noChangeAspect="1"/>
          </p:cNvPicPr>
          <p:nvPr/>
        </p:nvPicPr>
        <p:blipFill>
          <a:blip r:embed="rId2"/>
          <a:stretch>
            <a:fillRect/>
          </a:stretch>
        </p:blipFill>
        <p:spPr>
          <a:xfrm>
            <a:off x="731520" y="1371600"/>
            <a:ext cx="5212080" cy="3127248"/>
          </a:xfrm>
          <a:prstGeom prst="rect">
            <a:avLst/>
          </a:prstGeom>
        </p:spPr>
      </p:pic>
      <p:pic>
        <p:nvPicPr>
          <p:cNvPr id="5" name="Picture 4" descr="seq_retr.png"/>
          <p:cNvPicPr>
            <a:picLocks noChangeAspect="1"/>
          </p:cNvPicPr>
          <p:nvPr/>
        </p:nvPicPr>
        <p:blipFill>
          <a:blip r:embed="rId3"/>
          <a:stretch>
            <a:fillRect/>
          </a:stretch>
        </p:blipFill>
        <p:spPr>
          <a:xfrm>
            <a:off x="6217920" y="1371600"/>
            <a:ext cx="5212080" cy="3127248"/>
          </a:xfrm>
          <a:prstGeom prst="rect">
            <a:avLst/>
          </a:prstGeom>
        </p:spPr>
      </p:pic>
      <p:sp>
        <p:nvSpPr>
          <p:cNvPr id="6" name="TextBox 5"/>
          <p:cNvSpPr txBox="1"/>
          <p:nvPr/>
        </p:nvSpPr>
        <p:spPr>
          <a:xfrm>
            <a:off x="731520" y="5669280"/>
            <a:ext cx="10698480" cy="548640"/>
          </a:xfrm>
          <a:prstGeom prst="rect">
            <a:avLst/>
          </a:prstGeom>
          <a:noFill/>
        </p:spPr>
        <p:txBody>
          <a:bodyPr wrap="none">
            <a:spAutoFit/>
          </a:bodyPr>
          <a:lstStyle/>
          <a:p>
            <a:pPr algn="ctr">
              <a:defRPr sz="1200" b="1">
                <a:solidFill>
                  <a:srgbClr val="002060"/>
                </a:solidFill>
              </a:defRPr>
            </a:pPr>
            <a:r>
              <a:t>Minh chứng sự phối hợp nhịp nhàng giữa Kênh điều khiển (Port 2121) và Kênh dữ liệu (Passive Mode)!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none">
            <a:spAutoFit/>
          </a:bodyPr>
          <a:lstStyle/>
          <a:p>
            <a:pPr>
              <a:defRPr sz="1800" b="1">
                <a:solidFill>
                  <a:srgbClr val="FFC000"/>
                </a:solidFill>
              </a:defRPr>
            </a:pPr>
            <a:r>
              <a:t>PHẦN 03</a:t>
            </a:r>
          </a:p>
          <a:p>
            <a:pPr>
              <a:defRPr sz="3400" b="1">
                <a:solidFill>
                  <a:srgbClr val="FFFFFF"/>
                </a:solidFill>
              </a:defRPr>
            </a:pPr>
            <a:r>
              <a:t>KẾT QUẢ THỰC NGHIỆM &amp; ĐÁNH GIÁ HIỆU NĂNG</a:t>
            </a:r>
          </a:p>
          <a:p>
            <a:pPr>
              <a:defRPr sz="1500">
                <a:solidFill>
                  <a:srgbClr val="C8DCFF"/>
                </a:solidFill>
              </a:defRPr>
            </a:pPr>
            <a:r>
              <a:t>Đo đạc thông lượng, kiểm tra toàn vẹn SHA-256 và thử nghiệm 2 máy LAN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KẾT QUẢ HIỆU NĂNG TRUYỀN TẢI &amp; TOÀN VẸN DỮ LIỆU</a:t>
            </a:r>
          </a:p>
        </p:txBody>
      </p:sp>
      <p:pic>
        <p:nvPicPr>
          <p:cNvPr id="4" name="Picture 3" descr="hinh_thong_luong.png"/>
          <p:cNvPicPr>
            <a:picLocks noChangeAspect="1"/>
          </p:cNvPicPr>
          <p:nvPr/>
        </p:nvPicPr>
        <p:blipFill>
          <a:blip r:embed="rId2"/>
          <a:stretch>
            <a:fillRect/>
          </a:stretch>
        </p:blipFill>
        <p:spPr>
          <a:xfrm>
            <a:off x="731520" y="1371600"/>
            <a:ext cx="5212080" cy="3127248"/>
          </a:xfrm>
          <a:prstGeom prst="rect">
            <a:avLst/>
          </a:prstGeom>
        </p:spPr>
      </p:pic>
      <p:pic>
        <p:nvPicPr>
          <p:cNvPr id="5" name="Picture 4" descr="hinh_thoi_gian.png"/>
          <p:cNvPicPr>
            <a:picLocks noChangeAspect="1"/>
          </p:cNvPicPr>
          <p:nvPr/>
        </p:nvPicPr>
        <p:blipFill>
          <a:blip r:embed="rId3"/>
          <a:stretch>
            <a:fillRect/>
          </a:stretch>
        </p:blipFill>
        <p:spPr>
          <a:xfrm>
            <a:off x="6217920" y="1371600"/>
            <a:ext cx="5212080" cy="3127248"/>
          </a:xfrm>
          <a:prstGeom prst="rect">
            <a:avLst/>
          </a:prstGeom>
        </p:spPr>
      </p:pic>
      <p:sp>
        <p:nvSpPr>
          <p:cNvPr id="6" name="Rounded Rectangle 5"/>
          <p:cNvSpPr/>
          <p:nvPr/>
        </p:nvSpPr>
        <p:spPr>
          <a:xfrm>
            <a:off x="731520" y="5303520"/>
            <a:ext cx="3383280" cy="1097280"/>
          </a:xfrm>
          <a:prstGeom prst="roundRect">
            <a:avLst/>
          </a:prstGeom>
          <a:solidFill>
            <a:srgbClr val="F8FAFC"/>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349240"/>
            <a:ext cx="3383280" cy="1005840"/>
          </a:xfrm>
          <a:prstGeom prst="rect">
            <a:avLst/>
          </a:prstGeom>
          <a:noFill/>
        </p:spPr>
        <p:txBody>
          <a:bodyPr wrap="none">
            <a:spAutoFit/>
          </a:bodyPr>
          <a:lstStyle/>
          <a:p>
            <a:pPr algn="ctr">
              <a:defRPr sz="1800" b="1">
                <a:solidFill>
                  <a:srgbClr val="16A34A"/>
                </a:solidFill>
              </a:defRPr>
            </a:pPr>
            <a:r>
              <a:t>392.16 MB/s</a:t>
            </a:r>
          </a:p>
          <a:p>
            <a:pPr algn="ctr">
              <a:defRPr sz="950" b="1">
                <a:solidFill>
                  <a:srgbClr val="64748B"/>
                </a:solidFill>
              </a:defRPr>
            </a:pPr>
            <a:r>
              <a:t>TỐC ĐỘ UPLOAD TỐI ĐA</a:t>
            </a:r>
          </a:p>
        </p:txBody>
      </p:sp>
      <p:sp>
        <p:nvSpPr>
          <p:cNvPr id="8" name="Rounded Rectangle 7"/>
          <p:cNvSpPr/>
          <p:nvPr/>
        </p:nvSpPr>
        <p:spPr>
          <a:xfrm>
            <a:off x="4389120" y="5303520"/>
            <a:ext cx="3383280" cy="1097280"/>
          </a:xfrm>
          <a:prstGeom prst="roundRect">
            <a:avLst/>
          </a:prstGeom>
          <a:solidFill>
            <a:srgbClr val="F8FAFC"/>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5349240"/>
            <a:ext cx="3383280" cy="1005840"/>
          </a:xfrm>
          <a:prstGeom prst="rect">
            <a:avLst/>
          </a:prstGeom>
          <a:noFill/>
        </p:spPr>
        <p:txBody>
          <a:bodyPr wrap="none">
            <a:spAutoFit/>
          </a:bodyPr>
          <a:lstStyle/>
          <a:p>
            <a:pPr algn="ctr">
              <a:defRPr sz="1800" b="1">
                <a:solidFill>
                  <a:srgbClr val="0E7490"/>
                </a:solidFill>
              </a:defRPr>
            </a:pPr>
            <a:r>
              <a:t>119.76 MB/s</a:t>
            </a:r>
          </a:p>
          <a:p>
            <a:pPr algn="ctr">
              <a:defRPr sz="950" b="1">
                <a:solidFill>
                  <a:srgbClr val="64748B"/>
                </a:solidFill>
              </a:defRPr>
            </a:pPr>
            <a:r>
              <a:t>TỐC ĐỘ DOWNLOAD TỐI ĐA</a:t>
            </a:r>
          </a:p>
        </p:txBody>
      </p:sp>
      <p:sp>
        <p:nvSpPr>
          <p:cNvPr id="10" name="Rounded Rectangle 9"/>
          <p:cNvSpPr/>
          <p:nvPr/>
        </p:nvSpPr>
        <p:spPr>
          <a:xfrm>
            <a:off x="8046720" y="5303520"/>
            <a:ext cx="3383280" cy="1097280"/>
          </a:xfrm>
          <a:prstGeom prst="roundRect">
            <a:avLst/>
          </a:prstGeom>
          <a:solidFill>
            <a:srgbClr val="F8FAFC"/>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5349240"/>
            <a:ext cx="3383280" cy="1005840"/>
          </a:xfrm>
          <a:prstGeom prst="rect">
            <a:avLst/>
          </a:prstGeom>
          <a:noFill/>
        </p:spPr>
        <p:txBody>
          <a:bodyPr wrap="none">
            <a:spAutoFit/>
          </a:bodyPr>
          <a:lstStyle/>
          <a:p>
            <a:pPr algn="ctr">
              <a:defRPr sz="1800" b="1">
                <a:solidFill>
                  <a:srgbClr val="002060"/>
                </a:solidFill>
              </a:defRPr>
            </a:pPr>
            <a:r>
              <a:t>100% KHỚP</a:t>
            </a:r>
          </a:p>
          <a:p>
            <a:pPr algn="ctr">
              <a:defRPr sz="950" b="1">
                <a:solidFill>
                  <a:srgbClr val="64748B"/>
                </a:solidFill>
              </a:defRPr>
            </a:pPr>
            <a:r>
              <a:t>TOÀN VẸN MÃ BĂM SHA-256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KIỂM THỬ XỬ LÝ LỖI &amp; THỰC NGHIỆM TRÊN 2 MÁY LAN</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400" b="1">
                <a:solidFill>
                  <a:srgbClr val="002060"/>
                </a:solidFill>
              </a:defRPr>
            </a:pPr>
            <a:r>
              <a:t>KIỂM THỬ CÁC TÌNH HUỐNG LỖI</a:t>
            </a:r>
          </a:p>
          <a:p>
            <a:pPr>
              <a:defRPr sz="1150"/>
            </a:pPr>
            <a:r>
              <a:t>1. Tệp không tồn tại (File Not Found):</a:t>
            </a:r>
            <a:br/>
            <a:r>
              <a:t>Gửi lệnh RETR khong_co_that.abc -&gt; Server phản hồi mã lỗi 550 File unavailable chuẩn xác.</a:t>
            </a:r>
          </a:p>
          <a:p>
            <a:pPr>
              <a:defRPr sz="1150"/>
            </a:pPr>
            <a:r>
              <a:t>2. Tấn công leo thang Sandbox (Path Traversal):</a:t>
            </a:r>
            <a:br/>
            <a:r>
              <a:t>Gửi lệnh STOR ../../../exploit.exe -&gt; Server chặn đứng và trả về 550 Permission denied.</a:t>
            </a:r>
          </a:p>
          <a:p>
            <a:pPr>
              <a:defRPr sz="1150"/>
            </a:pPr>
            <a:r>
              <a:t>3. Đứt kết nối giữa chừng (Broken Socket):</a:t>
            </a:r>
            <a:br/>
            <a:r>
              <a:t>Đóng socket đột ngột khi đang stream dữ liệu -&gt; Server bắt ngoại lệ IOException, giải phóng cổng và gửi 426 Transfer aborted.</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400" b="1">
                <a:solidFill>
                  <a:srgbClr val="16A34A"/>
                </a:solidFill>
              </a:defRPr>
            </a:pPr>
            <a:r>
              <a:t>THỰC NGHIỆM TRÊN 2 MÁY QUA WI-FI LAN</a:t>
            </a:r>
          </a:p>
          <a:p>
            <a:pPr>
              <a:defRPr sz="1150"/>
            </a:pPr>
            <a:r>
              <a:t>Mô hình mạng kiểm thử:</a:t>
            </a:r>
            <a:br/>
            <a:r>
              <a:t>• Máy 1 (Server): Chạy FtpServer tại IP 192.168.1.15 (Port 2121)</a:t>
            </a:r>
            <a:br/>
            <a:r>
              <a:t>• Máy 2 (Client): Chạy ClientApp tại IP 192.168.1.28</a:t>
            </a:r>
          </a:p>
          <a:p>
            <a:pPr>
              <a:defRPr sz="1150"/>
            </a:pPr>
            <a:r>
              <a:t>Cơ chế Fallback IP tự động:</a:t>
            </a:r>
            <a:br/>
            <a:r>
              <a:t>Client tự động nhận diện IP của máy chủ khi Server phản hồi lệnh PASV, khắc phục triệt để lỗi loopback 127.0.0.1 khi chạy trên 2 máy khác nhau.</a:t>
            </a:r>
          </a:p>
          <a:p>
            <a:pPr>
              <a:defRPr sz="1150"/>
            </a:pPr>
            <a:r>
              <a:t>Kết quả đo đạc thực tế trên Wi-Fi LAN:</a:t>
            </a:r>
            <a:br/>
            <a:r>
              <a:t>• Tốc độ truyền trung bình đạt 12 - 15 MB/s (giới hạn băng thông Wi-Fi 802.11ac).</a:t>
            </a:r>
            <a:br/>
            <a:r>
              <a:t>• Truyền tải thành công 100% các tệp lớn mà không bị đứt kết nối.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0E7490"/>
                </a:solidFill>
                <a:latin typeface="Arial"/>
              </a:defRPr>
            </a:pPr>
            <a:r>
              <a:t>ĐỒ ÁN LẬP TRÌNH MẠNG MÁY TÍNH — NHÓM 11</a:t>
            </a:r>
          </a:p>
        </p:txBody>
      </p:sp>
      <p:sp>
        <p:nvSpPr>
          <p:cNvPr id="3" name="TextBox 2"/>
          <p:cNvSpPr txBox="1"/>
          <p:nvPr/>
        </p:nvSpPr>
        <p:spPr>
          <a:xfrm>
            <a:off x="731520" y="640080"/>
            <a:ext cx="10698480" cy="548640"/>
          </a:xfrm>
          <a:prstGeom prst="rect">
            <a:avLst/>
          </a:prstGeom>
          <a:noFill/>
        </p:spPr>
        <p:txBody>
          <a:bodyPr wrap="none">
            <a:spAutoFit/>
          </a:bodyPr>
          <a:lstStyle/>
          <a:p>
            <a:pPr>
              <a:defRPr sz="2200" b="1">
                <a:solidFill>
                  <a:srgbClr val="002060"/>
                </a:solidFill>
                <a:latin typeface="Arial"/>
              </a:defRPr>
            </a:pPr>
            <a:r>
              <a:t>KẾT LUẬN &amp; ĐỊNH HƯỚNG MỞ RỘNG ĐỀ TÀI</a:t>
            </a:r>
          </a:p>
        </p:txBody>
      </p:sp>
      <p:sp>
        <p:nvSpPr>
          <p:cNvPr id="4" name="Rounded Rectangle 3"/>
          <p:cNvSpPr/>
          <p:nvPr/>
        </p:nvSpPr>
        <p:spPr>
          <a:xfrm>
            <a:off x="731520" y="137160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none">
            <a:spAutoFit/>
          </a:bodyPr>
          <a:lstStyle/>
          <a:p>
            <a:pPr>
              <a:defRPr sz="1400" b="1">
                <a:solidFill>
                  <a:srgbClr val="16A34A"/>
                </a:solidFill>
              </a:defRPr>
            </a:pPr>
            <a:r>
              <a:t>KẾT QUẢ ĐẠT ĐƯỢC CỦA NHÓM</a:t>
            </a:r>
          </a:p>
          <a:p>
            <a:pPr>
              <a:defRPr sz="1150"/>
            </a:pPr>
            <a:r>
              <a:t>✔ Xây dựng thành công hệ sinh thái FTP Server/Client hoàn chỉnh bằng Java SE 17 thuần, không phụ thuộc thư viện bên ngoài.</a:t>
            </a:r>
          </a:p>
          <a:p>
            <a:pPr>
              <a:defRPr sz="1150"/>
            </a:pPr>
            <a:r>
              <a:t>✔ Hiện thực hóa chuẩn xác kiến trúc Hai kênh: Kênh điều khiển TCP 2121 &amp; Kênh dữ liệu Passive Mode.</a:t>
            </a:r>
          </a:p>
          <a:p>
            <a:pPr>
              <a:defRPr sz="1150"/>
            </a:pPr>
            <a:r>
              <a:t>✔ Xử lý đa luồng đồng thời nhiều Client, có Admin Console quản trị máy chủ thời gian thực.</a:t>
            </a:r>
          </a:p>
          <a:p>
            <a:pPr>
              <a:defRPr sz="1150"/>
            </a:pPr>
            <a:r>
              <a:t>✔ Giao diện Swing trực quan, hiện đại, có thanh tiến trình % và console log chi tiết.</a:t>
            </a:r>
          </a:p>
          <a:p>
            <a:pPr>
              <a:defRPr sz="1150"/>
            </a:pPr>
            <a:r>
              <a:t>✔ Bảo vệ an toàn tuyệt đối với thuật toán Sandbox Root chống tấn công Path Traversal.</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none">
            <a:spAutoFit/>
          </a:bodyPr>
          <a:lstStyle/>
          <a:p>
            <a:pPr>
              <a:defRPr sz="1400" b="1">
                <a:solidFill>
                  <a:srgbClr val="002060"/>
                </a:solidFill>
              </a:defRPr>
            </a:pPr>
            <a:r>
              <a:t>HƯỚNG PHÁT TRIỂN TƯƠNG LAI</a:t>
            </a:r>
          </a:p>
          <a:p>
            <a:pPr>
              <a:defRPr sz="1200"/>
            </a:pPr>
            <a:r>
              <a:t>➡ Nâng cấp giao thức FTPS (FTP over TLS/SSL theo RFC 4217) để mã hóa toàn bộ đường truyền.</a:t>
            </a:r>
          </a:p>
          <a:p>
            <a:pPr>
              <a:defRPr sz="1200"/>
            </a:pPr>
            <a:r>
              <a:t>➡ Bổ sung tính năng Resume Transfer (tiếp tục tải file dở dang khi rớt mạng bằng lệnh REST).</a:t>
            </a:r>
          </a:p>
          <a:p>
            <a:pPr>
              <a:defRPr sz="1200"/>
            </a:pPr>
            <a:r>
              <a:t>➡ Tích hợp cơ sở dữ liệu MySQL/PostgreSQL để quản lý tài khoản người dùng và phân quyền thư mục chuyên sâu.</a:t>
            </a:r>
          </a:p>
          <a:p>
            <a:pPr>
              <a:defRPr sz="1200"/>
            </a:pPr>
            <a:r>
              <a:t>➡ Giới hạn băng thông (Bandwidth Throttling) cho từng nhóm tài khoản người dùng.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utech_logo.jpeg"/>
          <p:cNvPicPr>
            <a:picLocks noChangeAspect="1"/>
          </p:cNvPicPr>
          <p:nvPr/>
        </p:nvPicPr>
        <p:blipFill>
          <a:blip r:embed="rId2"/>
          <a:stretch>
            <a:fillRect/>
          </a:stretch>
        </p:blipFill>
        <p:spPr>
          <a:xfrm>
            <a:off x="4937760" y="914400"/>
            <a:ext cx="3354859" cy="914400"/>
          </a:xfrm>
          <a:prstGeom prst="rect">
            <a:avLst/>
          </a:prstGeom>
        </p:spPr>
      </p:pic>
      <p:sp>
        <p:nvSpPr>
          <p:cNvPr id="4" name="TextBox 3"/>
          <p:cNvSpPr txBox="1"/>
          <p:nvPr/>
        </p:nvSpPr>
        <p:spPr>
          <a:xfrm>
            <a:off x="914400" y="2011680"/>
            <a:ext cx="10362895" cy="4114800"/>
          </a:xfrm>
          <a:prstGeom prst="rect">
            <a:avLst/>
          </a:prstGeom>
          <a:noFill/>
        </p:spPr>
        <p:txBody>
          <a:bodyPr wrap="none">
            <a:spAutoFit/>
          </a:bodyPr>
          <a:lstStyle/>
          <a:p>
            <a:pPr algn="ctr">
              <a:defRPr sz="2800" b="1">
                <a:solidFill>
                  <a:srgbClr val="FFFFFF"/>
                </a:solidFill>
              </a:defRPr>
            </a:pPr>
            <a:r>
              <a:t>XIN CHÂN THÀNH CẢM ƠN</a:t>
            </a:r>
            <a:br/>
            <a:r>
              <a:t>QUÝ THẦY CÔ VÀ CÁC BẠN ĐÃ LẮNG NGHE!</a:t>
            </a:r>
          </a:p>
          <a:p>
            <a:pPr algn="ctr">
              <a:defRPr sz="1300" b="1">
                <a:solidFill>
                  <a:srgbClr val="FFC000"/>
                </a:solidFill>
              </a:defRPr>
            </a:pPr>
            <a:r>
              <a:t>ĐỒ ÁN: HỆ THỐNG FTP SERVER/CLIENT VỚI HAI KÊNH (ĐIỀU KHIỂN VÀ DỮ LIỆU)</a:t>
            </a:r>
            <a:br/>
            <a:r>
              <a:t>LỚP: 23DTHB4  •  NHÓM 11  •  GVHD: ThS. NGUYỄN LÊ VĂN</a:t>
            </a:r>
          </a:p>
          <a:p>
            <a:pPr algn="ctr">
              <a:defRPr sz="1200">
                <a:solidFill>
                  <a:srgbClr val="C8DCFF"/>
                </a:solidFill>
              </a:defRPr>
            </a:pPr>
            <a:r>
              <a:t>Kho mã nguồn dự án: https://github.com/trannhattienrrttmmtt-spec/FTP-Server-Client.git</a:t>
            </a:r>
          </a:p>
          <a:p>
            <a:br/>
            <a:pPr algn="ctr">
              <a:defRPr sz="1500" b="1">
                <a:solidFill>
                  <a:srgbClr val="FFFFFF"/>
                </a:solidFill>
              </a:defRPr>
            </a:pPr>
            <a:r>
              <a:t>NHÓM 11 SẴN SÀNG NHẬN CÂU HỎI VÀ LẮNG NGHE Ý KIẾN ĐÓNG GÓP TỪ QUÝ THẦY CÔ!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